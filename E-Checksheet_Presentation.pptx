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ปิด" id="{38af4173-8ead-4b6f-c240-e00b28a31cbb}">
          <p14:sldIdLst>
            <p14:sldId id="256"/>
          </p14:sldIdLst>
        </p14:section>
        <p14:section name="โจทย์และแนวคิด" id="{6a05a665-a825-3b6f-f292-79ae4ce5ef6a}">
          <p14:sldIdLst>
            <p14:sldId id="257"/>
            <p14:sldId id="258"/>
          </p14:sldIdLst>
        </p14:section>
        <p14:section name="การทำงาน" id="{1d4728f7-1a8d-c8ff-bde3-7df93decffa5}">
          <p14:sldIdLst>
            <p14:sldId id="259"/>
            <p14:sldId id="260"/>
            <p14:sldId id="261"/>
          </p14:sldIdLst>
        </p14:section>
        <p14:section name="ระบบอัจฉริยะ" id="{79798941-c7ac-6f4c-6cd4-cfffee34dd64}">
          <p14:sldIdLst>
            <p14:sldId id="262"/>
            <p14:sldId id="263"/>
            <p14:sldId id="264"/>
            <p14:sldId id="265"/>
            <p14:sldId id="266"/>
          </p14:sldIdLst>
        </p14:section>
        <p14:section name="ผลลัพธ์" id="{149de18b-ee8e-5a5f-a4b2-1f540a395528}">
          <p14:sldIdLst>
            <p14:sldId id="267"/>
            <p14:sldId id="268"/>
          </p14:sldIdLst>
        </p14:section>
        <p14:section name="ปิด" id="{03be4b6f-b605-a1f1-579d-3f6b984668c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เปิดตัวผลงาน E-Checksheet ระบบตรวจเช็คเครื่องจักรออนไลน์ ที่เปลี่ยนใบตรวจกระดาษให้เป็นข้อมูลดิจิทัลแบบเรียลไทม์ เชื่อมกับ SCADA, UT-CMMS และ Energy Data ในระบบเดียว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ปัญหาหลักไม่ใช่การไม่มีข้อมูล แต่ข้อมูลอยู่บนกระดาษ ต้องคีย์ซ้ำ รู้ว่าขาดตรวจเมื่อสาย ค่าผิดปกติไม่มีใครเห็นทันที และการค้นย้อนหลังใช้เวลานาน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ระบบครอบคลุมทั้งวงจร ตั้งแต่วางแผนรอบตรวจ ช่างสแกน QR ตรวจ ระบบตรวจจับความผิดปกติอัตโนมัติ หัวหน้าอนุมัติ วิเคราะห์ จนถึงเปิดใบแจ้งซ่อมใน UT-CMMS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ช่างใช้มือถือสแกน QR ที่เครื่อง ระบบเปิดใบตรวจที่ถูกต้องให้ บอกเกณฑ์และค่าครั้งก่อนทันทีขณะกรอก ถ่ายรูปและลงลายเซ็นได้ และทำงานต่อได้แม้ไม่มีสัญญาณ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หัวหน้างานและผู้บริหารเห็นสถานะทุกโรงงานในหน้าเดียว เจาะลงถึงพื้นที่และเครื่องได้ และมีโหมด TV สำหรับจอห้องควบคุม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ทุกรอบตรวจมีสถานะชัดเจน รอตรวจ ตรวจตรงเวลา เลยกำหนด ขาดตรวจ และเครื่องหยุดซึ่งไม่ถูกนับเป็นขาดตรวจ ทำให้ตัวเลขสะท้อนความจริง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ค่าที่มีอยู่แล้วใน SCADA ถูกดึงมาลงใบตรวจอัตโนมัติตามเวลารอบ ช่างไม่ต้องจดซ้ำ และระบบจะไม่เขียนทับค่าที่ช่างกรอกเอง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เมื่อพบค่าผิดปกติ ระบบแจ้ง L1 ทันที ถ้าไม่มีใครรับทราบจะส่งต่อ L2 และ L3 อัตโนมัติ ผ่านหลายช่องทาง และผลที่เป็น NG จะเปิดใบแจ้งซ่อมใน UT-CMMS ให้เอง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ข้อมูลที่ตรวจทุกวันถูกแปลงเป็นเครื่องมือเชิงสถิติ Control Chart, Cpk, Pareto และ Heatmap เพื่อเห็นแนวโน้มและแก้ปัญหาก่อนเครื่องเสีย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แพลตฟอร์มเดียวกันต่อยอดไปสู่การบริหารพลังงาน มิเตอร์ไฟฟ้า ลม น้ำ วิเคราะห์ TOU และ Peak Demand และต้นทุนพลังงานรายพื้นที่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ทุกรอบตรวจมีผู้รับผิดชอบ ผลงานรายคนเจาะดูได้ หัวหน้าอนุมัติและลงนามอิเล็กทรอนิกส์ และทุกการเปลี่ยนแปลงถูกบันทึกไว้ตรวจสอบย้อนหลังได้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ความน่าเชื่อถือคือหัวใจ ระบบมีชุดทดสอบอัตโนมัติ 649 ชุด ตรวจหน้าจอทั้ง 118 หน้าด้วยเบราว์เซอร์จริง รวมกับ UT-CMMS โดยไม่ต้องแก้ไฟล์ของระบบเดิมแม้แต่ไฟล์เดียว และถอยกลับเวอร์ชันเดิมได้ภายใน 1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เปรียบเทียบก่อนและหลัง ทุกขั้นตอนจากเดิมที่ทำด้วยมือและรู้ช้า กลายเป็นข้อมูลที่ไหลถึงคนที่ต้องรู้ทันที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สรุป: E-Checksheet เปลี่ยนการตรวจเช็คจากกระดาษสู่ห้องควบคุมดิจิทัล ตรวจครบ รู้ทัน ซ่อมไว ด้วยข้อมูลที่เชื่อถือได้ ขอบคุณ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874520"/>
            <a:ext cx="576072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5394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15000"/>
              </a:lnSpc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lnSpc>
                <a:spcPct val="1150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E-Checksheet  ·  AISIN Utility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97280" y="2148840"/>
            <a:ext cx="9994392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05000"/>
              </a:lnSpc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lnSpc>
                <a:spcPct val="105000"/>
              </a:lnSpc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731520" y="14173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AISIN  ·  UTILITY 4.0  ·  DIGITAL MAINTENANCE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187452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</a:rPr>
              <a:t>E-Checksheet</a:t>
            </a:r>
            <a:endParaRPr lang="en-US" sz="5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1089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bg2"/>
                </a:solidFill>
              </a:rPr>
              <a:t>ระบบตรวจเช็คเครื่องจักรออนไลน์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bg2"/>
                </a:solidFill>
              </a:rPr>
              <a:t>จากใบตรวจกระดาษ สู่ห้องควบคุมดิจิทัล</a:t>
            </a:r>
            <a:endParaRPr lang="en-US" sz="2200" dirty="0"/>
          </a:p>
        </p:txBody>
      </p:sp>
      <p:sp>
        <p:nvSpPr>
          <p:cNvPr id="5" name="pill-2"/>
          <p:cNvSpPr/>
          <p:nvPr/>
        </p:nvSpPr>
        <p:spPr>
          <a:xfrm>
            <a:off x="731520" y="4526280"/>
            <a:ext cx="1783080" cy="402336"/>
          </a:xfrm>
          <a:prstGeom prst="roundRect">
            <a:avLst>
              <a:gd name="adj" fmla="val 50000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3"/>
          <p:cNvSpPr txBox="1"/>
          <p:nvPr/>
        </p:nvSpPr>
        <p:spPr>
          <a:xfrm>
            <a:off x="731520" y="45262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SCADA Auto-fill</a:t>
            </a:r>
            <a:endParaRPr lang="en-US" sz="1300" dirty="0"/>
          </a:p>
        </p:txBody>
      </p:sp>
      <p:sp>
        <p:nvSpPr>
          <p:cNvPr id="7" name="pill-4"/>
          <p:cNvSpPr/>
          <p:nvPr/>
        </p:nvSpPr>
        <p:spPr>
          <a:xfrm>
            <a:off x="2697480" y="4526280"/>
            <a:ext cx="1234440" cy="402336"/>
          </a:xfrm>
          <a:prstGeom prst="roundRect">
            <a:avLst>
              <a:gd name="adj" fmla="val 50000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-5"/>
          <p:cNvSpPr txBox="1"/>
          <p:nvPr/>
        </p:nvSpPr>
        <p:spPr>
          <a:xfrm>
            <a:off x="2697480" y="452628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UT-CMMS</a:t>
            </a:r>
            <a:endParaRPr lang="en-US" sz="1300" dirty="0"/>
          </a:p>
        </p:txBody>
      </p:sp>
      <p:sp>
        <p:nvSpPr>
          <p:cNvPr id="9" name="pill-6"/>
          <p:cNvSpPr/>
          <p:nvPr/>
        </p:nvSpPr>
        <p:spPr>
          <a:xfrm>
            <a:off x="4114800" y="4526280"/>
            <a:ext cx="1463040" cy="402336"/>
          </a:xfrm>
          <a:prstGeom prst="roundRect">
            <a:avLst>
              <a:gd name="adj" fmla="val 50000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7"/>
          <p:cNvSpPr txBox="1"/>
          <p:nvPr/>
        </p:nvSpPr>
        <p:spPr>
          <a:xfrm>
            <a:off x="4114800" y="45262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Energy Data</a:t>
            </a:r>
            <a:endParaRPr lang="en-US" sz="1300" dirty="0"/>
          </a:p>
        </p:txBody>
      </p:sp>
      <p:sp>
        <p:nvSpPr>
          <p:cNvPr id="11" name="text-8"/>
          <p:cNvSpPr txBox="1"/>
          <p:nvPr/>
        </p:nvSpPr>
        <p:spPr>
          <a:xfrm>
            <a:off x="73152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ผลงานนวัตกรรมด้านการบำรุงรักษา  ·  2569</a:t>
            </a:r>
            <a:endParaRPr lang="en-US" sz="1200" dirty="0"/>
          </a:p>
        </p:txBody>
      </p:sp>
      <p:pic>
        <p:nvPicPr>
          <p:cNvPr id="12" name="ภาพหน้าจอ: หน้าภาพรวมการตรวจเช็ค" descr="ภาพหน้าจอ: หน้าภาพรวมการตรวจเช็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417320"/>
            <a:ext cx="5349240" cy="3346704"/>
          </a:xfrm>
          <a:prstGeom prst="rect">
            <a:avLst/>
          </a:prstGeom>
        </p:spPr>
      </p:pic>
      <p:sp>
        <p:nvSpPr>
          <p:cNvPr id="13" name="hud-9"/>
          <p:cNvSpPr/>
          <p:nvPr/>
        </p:nvSpPr>
        <p:spPr>
          <a:xfrm>
            <a:off x="6272784" y="1335024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hud-10"/>
          <p:cNvSpPr/>
          <p:nvPr/>
        </p:nvSpPr>
        <p:spPr>
          <a:xfrm>
            <a:off x="6272784" y="133502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5" name="hud-11"/>
          <p:cNvSpPr/>
          <p:nvPr/>
        </p:nvSpPr>
        <p:spPr>
          <a:xfrm>
            <a:off x="11567160" y="1335024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6" name="hud-12"/>
          <p:cNvSpPr/>
          <p:nvPr/>
        </p:nvSpPr>
        <p:spPr>
          <a:xfrm>
            <a:off x="11786616" y="133502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7" name="hud-13"/>
          <p:cNvSpPr/>
          <p:nvPr/>
        </p:nvSpPr>
        <p:spPr>
          <a:xfrm>
            <a:off x="6272784" y="4846320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8" name="hud-14"/>
          <p:cNvSpPr/>
          <p:nvPr/>
        </p:nvSpPr>
        <p:spPr>
          <a:xfrm>
            <a:off x="6272784" y="462686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9" name="hud-15"/>
          <p:cNvSpPr/>
          <p:nvPr/>
        </p:nvSpPr>
        <p:spPr>
          <a:xfrm>
            <a:off x="11567160" y="4846320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0" name="hud-16"/>
          <p:cNvSpPr/>
          <p:nvPr/>
        </p:nvSpPr>
        <p:spPr>
          <a:xfrm>
            <a:off x="11786616" y="462686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pic>
        <p:nvPicPr>
          <p:cNvPr id="21" name="ภาพมือถือ: กรอกใบตรวจ" descr="หน้าจอมือถือ: ช่างกรอกใบตรว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971800"/>
            <a:ext cx="1645920" cy="34168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  ·  โจทย์จากหน้างาน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ใบตรวจกระดาษ ทำให้ข้อมูลมาถึงช้ากว่าปัญหา</a:t>
            </a:r>
            <a:endParaRPr lang="en-US" sz="3200" dirty="0"/>
          </a:p>
        </p:txBody>
      </p:sp>
      <p:sp>
        <p:nvSpPr>
          <p:cNvPr id="4" name="card-17"/>
          <p:cNvSpPr/>
          <p:nvPr/>
        </p:nvSpPr>
        <p:spPr>
          <a:xfrm>
            <a:off x="548640" y="201168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icon-bg-18"/>
          <p:cNvSpPr/>
          <p:nvPr/>
        </p:nvSpPr>
        <p:spPr>
          <a:xfrm>
            <a:off x="868680" y="2377440"/>
            <a:ext cx="713232" cy="71323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6" name="icon-1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555748"/>
            <a:ext cx="356616" cy="356616"/>
          </a:xfrm>
          <a:prstGeom prst="rect">
            <a:avLst/>
          </a:prstGeom>
        </p:spPr>
      </p:pic>
      <p:sp>
        <p:nvSpPr>
          <p:cNvPr id="7" name="text-20"/>
          <p:cNvSpPr txBox="1"/>
          <p:nvPr/>
        </p:nvSpPr>
        <p:spPr>
          <a:xfrm>
            <a:off x="2377440" y="2423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-21"/>
          <p:cNvSpPr txBox="1"/>
          <p:nvPr/>
        </p:nvSpPr>
        <p:spPr>
          <a:xfrm>
            <a:off x="868680" y="33375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จดมือ แล้วคีย์ซ้ำ</a:t>
            </a:r>
            <a:endParaRPr lang="en-US" sz="1800" dirty="0"/>
          </a:p>
        </p:txBody>
      </p:sp>
      <p:sp>
        <p:nvSpPr>
          <p:cNvPr id="9" name="text-22"/>
          <p:cNvSpPr txBox="1"/>
          <p:nvPr/>
        </p:nvSpPr>
        <p:spPr>
          <a:xfrm>
            <a:off x="868680" y="406908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ช่างจดบนกระดาษ แล้วต้องคีย์ลง Excel อีกรอบ ลายมืออ่านยาก ตัวเลขคลาดเคลื่อน</a:t>
            </a:r>
            <a:endParaRPr lang="en-US" sz="1400" dirty="0"/>
          </a:p>
        </p:txBody>
      </p:sp>
      <p:sp>
        <p:nvSpPr>
          <p:cNvPr id="10" name="card-23"/>
          <p:cNvSpPr/>
          <p:nvPr/>
        </p:nvSpPr>
        <p:spPr>
          <a:xfrm>
            <a:off x="3429000" y="201168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icon-bg-24"/>
          <p:cNvSpPr/>
          <p:nvPr/>
        </p:nvSpPr>
        <p:spPr>
          <a:xfrm>
            <a:off x="3749040" y="2377440"/>
            <a:ext cx="713232" cy="71323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2" name="icon-2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348" y="2555748"/>
            <a:ext cx="356616" cy="356616"/>
          </a:xfrm>
          <a:prstGeom prst="rect">
            <a:avLst/>
          </a:prstGeom>
        </p:spPr>
      </p:pic>
      <p:sp>
        <p:nvSpPr>
          <p:cNvPr id="13" name="text-26"/>
          <p:cNvSpPr txBox="1"/>
          <p:nvPr/>
        </p:nvSpPr>
        <p:spPr>
          <a:xfrm>
            <a:off x="5257800" y="2423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-27"/>
          <p:cNvSpPr txBox="1"/>
          <p:nvPr/>
        </p:nvSpPr>
        <p:spPr>
          <a:xfrm>
            <a:off x="3749040" y="33375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รู้ว่าขาดตรวจ เมื่อสายไปแล้ว</a:t>
            </a:r>
            <a:endParaRPr lang="en-US" sz="1800" dirty="0"/>
          </a:p>
        </p:txBody>
      </p:sp>
      <p:sp>
        <p:nvSpPr>
          <p:cNvPr id="15" name="text-28"/>
          <p:cNvSpPr txBox="1"/>
          <p:nvPr/>
        </p:nvSpPr>
        <p:spPr>
          <a:xfrm>
            <a:off x="3749040" y="406908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ไม่มีใครเห็นว่ารอบไหนยังไม่ได้ตรวจ จนถึงวันรวบรวมเอกสาร</a:t>
            </a:r>
            <a:endParaRPr lang="en-US" sz="1400" dirty="0"/>
          </a:p>
        </p:txBody>
      </p:sp>
      <p:sp>
        <p:nvSpPr>
          <p:cNvPr id="16" name="card-29"/>
          <p:cNvSpPr/>
          <p:nvPr/>
        </p:nvSpPr>
        <p:spPr>
          <a:xfrm>
            <a:off x="6309360" y="201168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icon-bg-30"/>
          <p:cNvSpPr/>
          <p:nvPr/>
        </p:nvSpPr>
        <p:spPr>
          <a:xfrm>
            <a:off x="6629400" y="2377440"/>
            <a:ext cx="713232" cy="71323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8" name="icon-3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2555748"/>
            <a:ext cx="356616" cy="356616"/>
          </a:xfrm>
          <a:prstGeom prst="rect">
            <a:avLst/>
          </a:prstGeom>
        </p:spPr>
      </p:pic>
      <p:sp>
        <p:nvSpPr>
          <p:cNvPr id="19" name="text-32"/>
          <p:cNvSpPr txBox="1"/>
          <p:nvPr/>
        </p:nvSpPr>
        <p:spPr>
          <a:xfrm>
            <a:off x="8138160" y="2423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-33"/>
          <p:cNvSpPr txBox="1"/>
          <p:nvPr/>
        </p:nvSpPr>
        <p:spPr>
          <a:xfrm>
            <a:off x="6629400" y="33375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ค่าผิดปกติ ไม่มีใครเห็นทันที</a:t>
            </a:r>
            <a:endParaRPr lang="en-US" sz="1800" dirty="0"/>
          </a:p>
        </p:txBody>
      </p:sp>
      <p:sp>
        <p:nvSpPr>
          <p:cNvPr id="21" name="text-34"/>
          <p:cNvSpPr txBox="1"/>
          <p:nvPr/>
        </p:nvSpPr>
        <p:spPr>
          <a:xfrm>
            <a:off x="6629400" y="406908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ค่าเกินเกณฑ์ถูกบันทึกไว้ในแฟ้ม หัวหน้ารู้ตอนเครื่องเสียแล้ว</a:t>
            </a:r>
            <a:endParaRPr lang="en-US" sz="1400" dirty="0"/>
          </a:p>
        </p:txBody>
      </p:sp>
      <p:sp>
        <p:nvSpPr>
          <p:cNvPr id="22" name="card-35"/>
          <p:cNvSpPr/>
          <p:nvPr/>
        </p:nvSpPr>
        <p:spPr>
          <a:xfrm>
            <a:off x="9189720" y="201168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icon-bg-36"/>
          <p:cNvSpPr/>
          <p:nvPr/>
        </p:nvSpPr>
        <p:spPr>
          <a:xfrm>
            <a:off x="9509760" y="2377440"/>
            <a:ext cx="713232" cy="71323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4" name="icon-3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8068" y="2555748"/>
            <a:ext cx="356616" cy="356616"/>
          </a:xfrm>
          <a:prstGeom prst="rect">
            <a:avLst/>
          </a:prstGeom>
        </p:spPr>
      </p:pic>
      <p:sp>
        <p:nvSpPr>
          <p:cNvPr id="25" name="text-38"/>
          <p:cNvSpPr txBox="1"/>
          <p:nvPr/>
        </p:nvSpPr>
        <p:spPr>
          <a:xfrm>
            <a:off x="11018520" y="2423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-39"/>
          <p:cNvSpPr txBox="1"/>
          <p:nvPr/>
        </p:nvSpPr>
        <p:spPr>
          <a:xfrm>
            <a:off x="9509760" y="33375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ค้นย้อนหลัง ทำรายงานนาน</a:t>
            </a:r>
            <a:endParaRPr lang="en-US" sz="1800" dirty="0"/>
          </a:p>
        </p:txBody>
      </p:sp>
      <p:sp>
        <p:nvSpPr>
          <p:cNvPr id="27" name="text-40"/>
          <p:cNvSpPr txBox="1"/>
          <p:nvPr/>
        </p:nvSpPr>
        <p:spPr>
          <a:xfrm>
            <a:off x="9509760" y="406908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ต้องเปิดแฟ้มทีละเดือน เพื่อหาแนวโน้มหรือหลักฐานการตรวจ</a:t>
            </a:r>
            <a:endParaRPr lang="en-US" sz="1400" dirty="0"/>
          </a:p>
        </p:txBody>
      </p:sp>
      <p:sp>
        <p:nvSpPr>
          <p:cNvPr id="28" name="text-41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2"/>
                </a:solidFill>
              </a:rPr>
              <a:t>ข้อมูลมีอยู่แล้ว — แต่ไม่ถึงมือคนตัดสินใจ ในเวลาที่ต้องใช้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  ·  แนวคิด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หนึ่งระบบ ปิดวงจรการตรวจเช็คครบทุกขั้น</a:t>
            </a:r>
            <a:endParaRPr lang="en-US" sz="3200" dirty="0"/>
          </a:p>
        </p:txBody>
      </p:sp>
      <p:sp>
        <p:nvSpPr>
          <p:cNvPr id="4" name="flow-line"/>
          <p:cNvSpPr/>
          <p:nvPr/>
        </p:nvSpPr>
        <p:spPr>
          <a:xfrm>
            <a:off x="1472184" y="2697480"/>
            <a:ext cx="92354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5" name="icon-bg-42"/>
          <p:cNvSpPr/>
          <p:nvPr/>
        </p:nvSpPr>
        <p:spPr>
          <a:xfrm>
            <a:off x="1014984" y="2240280"/>
            <a:ext cx="914400" cy="9144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con-4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468880"/>
            <a:ext cx="457200" cy="457200"/>
          </a:xfrm>
          <a:prstGeom prst="rect">
            <a:avLst/>
          </a:prstGeom>
        </p:spPr>
      </p:pic>
      <p:sp>
        <p:nvSpPr>
          <p:cNvPr id="7" name="text-44"/>
          <p:cNvSpPr txBox="1"/>
          <p:nvPr/>
        </p:nvSpPr>
        <p:spPr>
          <a:xfrm>
            <a:off x="1673352" y="2167128"/>
            <a:ext cx="310896" cy="31089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-45"/>
          <p:cNvSpPr txBox="1"/>
          <p:nvPr/>
        </p:nvSpPr>
        <p:spPr>
          <a:xfrm>
            <a:off x="594360" y="33375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วางแผนรอบ</a:t>
            </a:r>
            <a:endParaRPr lang="en-US" sz="1700" dirty="0"/>
          </a:p>
        </p:txBody>
      </p:sp>
      <p:sp>
        <p:nvSpPr>
          <p:cNvPr id="9" name="text-46"/>
          <p:cNvSpPr txBox="1"/>
          <p:nvPr/>
        </p:nvSpPr>
        <p:spPr>
          <a:xfrm>
            <a:off x="658368" y="3776472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รายวัน / กะ / สัปดาห์ / เดือน พร้อมเวลาที่ต้องเสร็จ</a:t>
            </a:r>
            <a:endParaRPr lang="en-US" sz="1400" dirty="0"/>
          </a:p>
        </p:txBody>
      </p:sp>
      <p:sp>
        <p:nvSpPr>
          <p:cNvPr id="10" name="icon-bg-47"/>
          <p:cNvSpPr/>
          <p:nvPr/>
        </p:nvSpPr>
        <p:spPr>
          <a:xfrm>
            <a:off x="2862072" y="2240280"/>
            <a:ext cx="914400" cy="9144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1" name="icon-4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2468880"/>
            <a:ext cx="457200" cy="457200"/>
          </a:xfrm>
          <a:prstGeom prst="rect">
            <a:avLst/>
          </a:prstGeom>
        </p:spPr>
      </p:pic>
      <p:sp>
        <p:nvSpPr>
          <p:cNvPr id="12" name="text-49"/>
          <p:cNvSpPr txBox="1"/>
          <p:nvPr/>
        </p:nvSpPr>
        <p:spPr>
          <a:xfrm>
            <a:off x="3520440" y="2167128"/>
            <a:ext cx="310896" cy="31089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-50"/>
          <p:cNvSpPr txBox="1"/>
          <p:nvPr/>
        </p:nvSpPr>
        <p:spPr>
          <a:xfrm>
            <a:off x="2441448" y="33375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สแกน QR ตรวจ</a:t>
            </a:r>
            <a:endParaRPr lang="en-US" sz="1700" dirty="0"/>
          </a:p>
        </p:txBody>
      </p:sp>
      <p:sp>
        <p:nvSpPr>
          <p:cNvPr id="14" name="text-51"/>
          <p:cNvSpPr txBox="1"/>
          <p:nvPr/>
        </p:nvSpPr>
        <p:spPr>
          <a:xfrm>
            <a:off x="2505456" y="3776472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เปิดใบตรวจถูกเครื่อง บนมือถือ</a:t>
            </a:r>
            <a:endParaRPr lang="en-US" sz="1400" dirty="0"/>
          </a:p>
        </p:txBody>
      </p:sp>
      <p:sp>
        <p:nvSpPr>
          <p:cNvPr id="15" name="icon-bg-52"/>
          <p:cNvSpPr/>
          <p:nvPr/>
        </p:nvSpPr>
        <p:spPr>
          <a:xfrm>
            <a:off x="4709160" y="2240280"/>
            <a:ext cx="914400" cy="9144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6" name="icon-5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68880"/>
            <a:ext cx="457200" cy="457200"/>
          </a:xfrm>
          <a:prstGeom prst="rect">
            <a:avLst/>
          </a:prstGeom>
        </p:spPr>
      </p:pic>
      <p:sp>
        <p:nvSpPr>
          <p:cNvPr id="17" name="text-54"/>
          <p:cNvSpPr txBox="1"/>
          <p:nvPr/>
        </p:nvSpPr>
        <p:spPr>
          <a:xfrm>
            <a:off x="5367528" y="2167128"/>
            <a:ext cx="310896" cy="31089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-55"/>
          <p:cNvSpPr txBox="1"/>
          <p:nvPr/>
        </p:nvSpPr>
        <p:spPr>
          <a:xfrm>
            <a:off x="4288536" y="33375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ตรวจจับอัตโนมัติ</a:t>
            </a:r>
            <a:endParaRPr lang="en-US" sz="1700" dirty="0"/>
          </a:p>
        </p:txBody>
      </p:sp>
      <p:sp>
        <p:nvSpPr>
          <p:cNvPr id="19" name="text-56"/>
          <p:cNvSpPr txBox="1"/>
          <p:nvPr/>
        </p:nvSpPr>
        <p:spPr>
          <a:xfrm>
            <a:off x="4352544" y="3776472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เทียบเกณฑ์ทันทีที่ส่ง แจ้งเตือน L1–L3</a:t>
            </a:r>
            <a:endParaRPr lang="en-US" sz="1400" dirty="0"/>
          </a:p>
        </p:txBody>
      </p:sp>
      <p:sp>
        <p:nvSpPr>
          <p:cNvPr id="20" name="icon-bg-57"/>
          <p:cNvSpPr/>
          <p:nvPr/>
        </p:nvSpPr>
        <p:spPr>
          <a:xfrm>
            <a:off x="6556248" y="2240280"/>
            <a:ext cx="914400" cy="9144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1" name="icon-5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468880"/>
            <a:ext cx="457200" cy="457200"/>
          </a:xfrm>
          <a:prstGeom prst="rect">
            <a:avLst/>
          </a:prstGeom>
        </p:spPr>
      </p:pic>
      <p:sp>
        <p:nvSpPr>
          <p:cNvPr id="22" name="text-59"/>
          <p:cNvSpPr txBox="1"/>
          <p:nvPr/>
        </p:nvSpPr>
        <p:spPr>
          <a:xfrm>
            <a:off x="7214616" y="2167128"/>
            <a:ext cx="310896" cy="31089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-60"/>
          <p:cNvSpPr txBox="1"/>
          <p:nvPr/>
        </p:nvSpPr>
        <p:spPr>
          <a:xfrm>
            <a:off x="6135624" y="33375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อนุมัติ · ลงนาม</a:t>
            </a:r>
            <a:endParaRPr lang="en-US" sz="1700" dirty="0"/>
          </a:p>
        </p:txBody>
      </p:sp>
      <p:sp>
        <p:nvSpPr>
          <p:cNvPr id="24" name="text-61"/>
          <p:cNvSpPr txBox="1"/>
          <p:nvPr/>
        </p:nvSpPr>
        <p:spPr>
          <a:xfrm>
            <a:off x="6199632" y="3776472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หัวหน้าตรวจรับ ลงนามอิเล็กทรอนิกส์</a:t>
            </a:r>
            <a:endParaRPr lang="en-US" sz="1400" dirty="0"/>
          </a:p>
        </p:txBody>
      </p:sp>
      <p:sp>
        <p:nvSpPr>
          <p:cNvPr id="25" name="icon-bg-62"/>
          <p:cNvSpPr/>
          <p:nvPr/>
        </p:nvSpPr>
        <p:spPr>
          <a:xfrm>
            <a:off x="8403336" y="2240280"/>
            <a:ext cx="914400" cy="9144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6" name="icon-6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36" y="2468880"/>
            <a:ext cx="457200" cy="457200"/>
          </a:xfrm>
          <a:prstGeom prst="rect">
            <a:avLst/>
          </a:prstGeom>
        </p:spPr>
      </p:pic>
      <p:sp>
        <p:nvSpPr>
          <p:cNvPr id="27" name="text-64"/>
          <p:cNvSpPr txBox="1"/>
          <p:nvPr/>
        </p:nvSpPr>
        <p:spPr>
          <a:xfrm>
            <a:off x="9061704" y="2167128"/>
            <a:ext cx="310896" cy="31089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-65"/>
          <p:cNvSpPr txBox="1"/>
          <p:nvPr/>
        </p:nvSpPr>
        <p:spPr>
          <a:xfrm>
            <a:off x="7982712" y="33375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วิเคราะห์ · รายงาน</a:t>
            </a:r>
            <a:endParaRPr lang="en-US" sz="1700" dirty="0"/>
          </a:p>
        </p:txBody>
      </p:sp>
      <p:sp>
        <p:nvSpPr>
          <p:cNvPr id="29" name="text-66"/>
          <p:cNvSpPr txBox="1"/>
          <p:nvPr/>
        </p:nvSpPr>
        <p:spPr>
          <a:xfrm>
            <a:off x="8046720" y="3776472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Control Chart · Cpk ออก PDF / Excel</a:t>
            </a:r>
            <a:endParaRPr lang="en-US" sz="1400" dirty="0"/>
          </a:p>
        </p:txBody>
      </p:sp>
      <p:sp>
        <p:nvSpPr>
          <p:cNvPr id="30" name="icon-bg-67"/>
          <p:cNvSpPr/>
          <p:nvPr/>
        </p:nvSpPr>
        <p:spPr>
          <a:xfrm>
            <a:off x="10250424" y="2240280"/>
            <a:ext cx="914400" cy="9144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31" name="icon-6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9024" y="2468880"/>
            <a:ext cx="457200" cy="457200"/>
          </a:xfrm>
          <a:prstGeom prst="rect">
            <a:avLst/>
          </a:prstGeom>
        </p:spPr>
      </p:pic>
      <p:sp>
        <p:nvSpPr>
          <p:cNvPr id="32" name="text-69"/>
          <p:cNvSpPr txBox="1"/>
          <p:nvPr/>
        </p:nvSpPr>
        <p:spPr>
          <a:xfrm>
            <a:off x="10908792" y="2167128"/>
            <a:ext cx="310896" cy="31089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-70"/>
          <p:cNvSpPr txBox="1"/>
          <p:nvPr/>
        </p:nvSpPr>
        <p:spPr>
          <a:xfrm>
            <a:off x="9829800" y="33375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แจ้งซ่อม CMMS</a:t>
            </a:r>
            <a:endParaRPr lang="en-US" sz="1700" dirty="0"/>
          </a:p>
        </p:txBody>
      </p:sp>
      <p:sp>
        <p:nvSpPr>
          <p:cNvPr id="34" name="text-71"/>
          <p:cNvSpPr txBox="1"/>
          <p:nvPr/>
        </p:nvSpPr>
        <p:spPr>
          <a:xfrm>
            <a:off x="9893808" y="3776472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NG เปิดใบแจ้งซ่อม UT-CMMS อัตโนมัติ</a:t>
            </a:r>
            <a:endParaRPr lang="en-US" sz="1400" dirty="0"/>
          </a:p>
        </p:txBody>
      </p:sp>
      <p:sp>
        <p:nvSpPr>
          <p:cNvPr id="35" name="card-72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>
              <a:alpha val="75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text-73"/>
          <p:cNvSpPr txBox="1"/>
          <p:nvPr/>
        </p:nvSpPr>
        <p:spPr>
          <a:xfrm>
            <a:off x="868680" y="5166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เชื่อมต่อในตัว</a:t>
            </a:r>
            <a:endParaRPr lang="en-US" sz="1400" dirty="0"/>
          </a:p>
        </p:txBody>
      </p:sp>
      <p:sp>
        <p:nvSpPr>
          <p:cNvPr id="37" name="text-74"/>
          <p:cNvSpPr txBox="1"/>
          <p:nvPr/>
        </p:nvSpPr>
        <p:spPr>
          <a:xfrm>
            <a:off x="2468880" y="516636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SCADA / Historian   ·   UT-CMMS (Login เดียว)   ·   Energy Data   ·   LINE   ·   Telegram   ·   Teams   ·   อีเมล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  ·  หน้างาน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ช่างตรวจบนมือถือ ระบบช่วยคิดทุกค่า</a:t>
            </a:r>
            <a:endParaRPr lang="en-US" sz="3200" dirty="0"/>
          </a:p>
        </p:txBody>
      </p:sp>
      <p:sp>
        <p:nvSpPr>
          <p:cNvPr id="4" name="icon-bg-75"/>
          <p:cNvSpPr/>
          <p:nvPr/>
        </p:nvSpPr>
        <p:spPr>
          <a:xfrm>
            <a:off x="548640" y="2011680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icon-7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153412"/>
            <a:ext cx="283464" cy="283464"/>
          </a:xfrm>
          <a:prstGeom prst="rect">
            <a:avLst/>
          </a:prstGeom>
        </p:spPr>
      </p:pic>
      <p:sp>
        <p:nvSpPr>
          <p:cNvPr id="6" name="text-77"/>
          <p:cNvSpPr txBox="1"/>
          <p:nvPr/>
        </p:nvSpPr>
        <p:spPr>
          <a:xfrm>
            <a:off x="1344168" y="1993392"/>
            <a:ext cx="5513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สแกน QR เปิดใบตรวจถูกเครื่อง</a:t>
            </a:r>
            <a:endParaRPr lang="en-US" sz="1700" dirty="0"/>
          </a:p>
        </p:txBody>
      </p:sp>
      <p:sp>
        <p:nvSpPr>
          <p:cNvPr id="7" name="text-78"/>
          <p:cNvSpPr txBox="1"/>
          <p:nvPr/>
        </p:nvSpPr>
        <p:spPr>
          <a:xfrm>
            <a:off x="1344168" y="2340864"/>
            <a:ext cx="5513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ไม่ต้องค้นหา ไม่ผิดเครื่อง ไม่ผิดแบบฟอร์ม</a:t>
            </a:r>
            <a:endParaRPr lang="en-US" sz="1400" dirty="0"/>
          </a:p>
        </p:txBody>
      </p:sp>
      <p:sp>
        <p:nvSpPr>
          <p:cNvPr id="8" name="icon-bg-79"/>
          <p:cNvSpPr/>
          <p:nvPr/>
        </p:nvSpPr>
        <p:spPr>
          <a:xfrm>
            <a:off x="548640" y="3035808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9" name="icon-8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3177540"/>
            <a:ext cx="283464" cy="283464"/>
          </a:xfrm>
          <a:prstGeom prst="rect">
            <a:avLst/>
          </a:prstGeom>
        </p:spPr>
      </p:pic>
      <p:sp>
        <p:nvSpPr>
          <p:cNvPr id="10" name="text-81"/>
          <p:cNvSpPr txBox="1"/>
          <p:nvPr/>
        </p:nvSpPr>
        <p:spPr>
          <a:xfrm>
            <a:off x="1344168" y="3017520"/>
            <a:ext cx="5513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บอกเกณฑ์ทันทีขณะกรอก</a:t>
            </a:r>
            <a:endParaRPr lang="en-US" sz="1700" dirty="0"/>
          </a:p>
        </p:txBody>
      </p:sp>
      <p:sp>
        <p:nvSpPr>
          <p:cNvPr id="11" name="text-82"/>
          <p:cNvSpPr txBox="1"/>
          <p:nvPr/>
        </p:nvSpPr>
        <p:spPr>
          <a:xfrm>
            <a:off x="1344168" y="3364992"/>
            <a:ext cx="5513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ค่าเกินเกณฑ์ขึ้นเตือนก่อนส่ง พร้อมค่าครั้งก่อนให้เทียบ</a:t>
            </a:r>
            <a:endParaRPr lang="en-US" sz="1400" dirty="0"/>
          </a:p>
        </p:txBody>
      </p:sp>
      <p:sp>
        <p:nvSpPr>
          <p:cNvPr id="12" name="icon-bg-83"/>
          <p:cNvSpPr/>
          <p:nvPr/>
        </p:nvSpPr>
        <p:spPr>
          <a:xfrm>
            <a:off x="548640" y="4059936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3" name="icon-8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201668"/>
            <a:ext cx="283464" cy="283464"/>
          </a:xfrm>
          <a:prstGeom prst="rect">
            <a:avLst/>
          </a:prstGeom>
        </p:spPr>
      </p:pic>
      <p:sp>
        <p:nvSpPr>
          <p:cNvPr id="14" name="text-85"/>
          <p:cNvSpPr txBox="1"/>
          <p:nvPr/>
        </p:nvSpPr>
        <p:spPr>
          <a:xfrm>
            <a:off x="1344168" y="4041648"/>
            <a:ext cx="5513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ถ่ายรูป · ลงลายเซ็น · ระบุเหตุผล</a:t>
            </a:r>
            <a:endParaRPr lang="en-US" sz="1700" dirty="0"/>
          </a:p>
        </p:txBody>
      </p:sp>
      <p:sp>
        <p:nvSpPr>
          <p:cNvPr id="15" name="text-86"/>
          <p:cNvSpPr txBox="1"/>
          <p:nvPr/>
        </p:nvSpPr>
        <p:spPr>
          <a:xfrm>
            <a:off x="1344168" y="4389120"/>
            <a:ext cx="5513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หลักฐานการตรวจครบในที่เดียว</a:t>
            </a:r>
            <a:endParaRPr lang="en-US" sz="1400" dirty="0"/>
          </a:p>
        </p:txBody>
      </p:sp>
      <p:sp>
        <p:nvSpPr>
          <p:cNvPr id="16" name="icon-bg-87"/>
          <p:cNvSpPr/>
          <p:nvPr/>
        </p:nvSpPr>
        <p:spPr>
          <a:xfrm>
            <a:off x="548640" y="5084064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7" name="icon-8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5225796"/>
            <a:ext cx="283464" cy="283464"/>
          </a:xfrm>
          <a:prstGeom prst="rect">
            <a:avLst/>
          </a:prstGeom>
        </p:spPr>
      </p:pic>
      <p:sp>
        <p:nvSpPr>
          <p:cNvPr id="18" name="text-89"/>
          <p:cNvSpPr txBox="1"/>
          <p:nvPr/>
        </p:nvSpPr>
        <p:spPr>
          <a:xfrm>
            <a:off x="1344168" y="5065776"/>
            <a:ext cx="5513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ทำงานต่อได้แม้ไม่มีสัญญาณ</a:t>
            </a:r>
            <a:endParaRPr lang="en-US" sz="1700" dirty="0"/>
          </a:p>
        </p:txBody>
      </p:sp>
      <p:sp>
        <p:nvSpPr>
          <p:cNvPr id="19" name="text-90"/>
          <p:cNvSpPr txBox="1"/>
          <p:nvPr/>
        </p:nvSpPr>
        <p:spPr>
          <a:xfrm>
            <a:off x="1344168" y="5413248"/>
            <a:ext cx="5513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บันทึกในเครื่อง แล้วส่งเองเมื่อกลับมาออนไลน์</a:t>
            </a:r>
            <a:endParaRPr lang="en-US" sz="1400" dirty="0"/>
          </a:p>
        </p:txBody>
      </p:sp>
      <p:pic>
        <p:nvPicPr>
          <p:cNvPr id="20" name="ภาพมือถือ: งานของฉัน" descr="หน้าจอมือถือ: งานของฉัน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783080"/>
            <a:ext cx="2148840" cy="4460951"/>
          </a:xfrm>
          <a:prstGeom prst="rect">
            <a:avLst/>
          </a:prstGeom>
        </p:spPr>
      </p:pic>
      <p:pic>
        <p:nvPicPr>
          <p:cNvPr id="21" name="ภาพมือถือ: กรอกใบตรวจ" descr="หน้าจอมือถือ: กรอกค่าในใบตรวจ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1508760"/>
            <a:ext cx="2240280" cy="465077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  ·  ห้องควบคุม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เห็นทุกโรงงานในหน้าเดียว ตามเวลาจริง</a:t>
            </a:r>
            <a:endParaRPr lang="en-US" sz="3200" dirty="0"/>
          </a:p>
        </p:txBody>
      </p:sp>
      <p:pic>
        <p:nvPicPr>
          <p:cNvPr id="4" name="ภาพหน้าจอ: แดชบอร์ดภาพรวม" descr="ภาพหน้าจอ: แดชบอร์ดภาพรว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7589520" cy="3952875"/>
          </a:xfrm>
          <a:prstGeom prst="rect">
            <a:avLst/>
          </a:prstGeom>
        </p:spPr>
      </p:pic>
      <p:sp>
        <p:nvSpPr>
          <p:cNvPr id="5" name="hud-91"/>
          <p:cNvSpPr/>
          <p:nvPr/>
        </p:nvSpPr>
        <p:spPr>
          <a:xfrm>
            <a:off x="466344" y="1883664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6" name="hud-92"/>
          <p:cNvSpPr/>
          <p:nvPr/>
        </p:nvSpPr>
        <p:spPr>
          <a:xfrm>
            <a:off x="466344" y="188366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7" name="hud-93"/>
          <p:cNvSpPr/>
          <p:nvPr/>
        </p:nvSpPr>
        <p:spPr>
          <a:xfrm>
            <a:off x="8001000" y="1883664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8" name="hud-94"/>
          <p:cNvSpPr/>
          <p:nvPr/>
        </p:nvSpPr>
        <p:spPr>
          <a:xfrm>
            <a:off x="8220456" y="188366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9" name="hud-95"/>
          <p:cNvSpPr/>
          <p:nvPr/>
        </p:nvSpPr>
        <p:spPr>
          <a:xfrm>
            <a:off x="466344" y="6001131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0" name="hud-96"/>
          <p:cNvSpPr/>
          <p:nvPr/>
        </p:nvSpPr>
        <p:spPr>
          <a:xfrm>
            <a:off x="466344" y="5781675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1" name="hud-97"/>
          <p:cNvSpPr/>
          <p:nvPr/>
        </p:nvSpPr>
        <p:spPr>
          <a:xfrm>
            <a:off x="8001000" y="6001131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2" name="hud-98"/>
          <p:cNvSpPr/>
          <p:nvPr/>
        </p:nvSpPr>
        <p:spPr>
          <a:xfrm>
            <a:off x="8220456" y="5781675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3" name="icon-bg-99"/>
          <p:cNvSpPr/>
          <p:nvPr/>
        </p:nvSpPr>
        <p:spPr>
          <a:xfrm>
            <a:off x="8549640" y="2011680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4" name="icon-10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372" y="2153412"/>
            <a:ext cx="283464" cy="283464"/>
          </a:xfrm>
          <a:prstGeom prst="rect">
            <a:avLst/>
          </a:prstGeom>
        </p:spPr>
      </p:pic>
      <p:sp>
        <p:nvSpPr>
          <p:cNvPr id="15" name="text-101"/>
          <p:cNvSpPr txBox="1"/>
          <p:nvPr/>
        </p:nvSpPr>
        <p:spPr>
          <a:xfrm>
            <a:off x="9345168" y="1993392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ภาพรวมทุกโรงงาน</a:t>
            </a:r>
            <a:endParaRPr lang="en-US" sz="1700" dirty="0"/>
          </a:p>
        </p:txBody>
      </p:sp>
      <p:sp>
        <p:nvSpPr>
          <p:cNvPr id="16" name="text-102"/>
          <p:cNvSpPr txBox="1"/>
          <p:nvPr/>
        </p:nvSpPr>
        <p:spPr>
          <a:xfrm>
            <a:off x="9345168" y="2340864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เครื่องที่ต้องตรวจ · ตรวจตรงเวลา · คุณภาพเครื่องจักร</a:t>
            </a:r>
            <a:endParaRPr lang="en-US" sz="1400" dirty="0"/>
          </a:p>
        </p:txBody>
      </p:sp>
      <p:sp>
        <p:nvSpPr>
          <p:cNvPr id="17" name="icon-bg-103"/>
          <p:cNvSpPr/>
          <p:nvPr/>
        </p:nvSpPr>
        <p:spPr>
          <a:xfrm>
            <a:off x="8549640" y="3429000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8" name="icon-10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372" y="3570732"/>
            <a:ext cx="283464" cy="283464"/>
          </a:xfrm>
          <a:prstGeom prst="rect">
            <a:avLst/>
          </a:prstGeom>
        </p:spPr>
      </p:pic>
      <p:sp>
        <p:nvSpPr>
          <p:cNvPr id="19" name="text-105"/>
          <p:cNvSpPr txBox="1"/>
          <p:nvPr/>
        </p:nvSpPr>
        <p:spPr>
          <a:xfrm>
            <a:off x="9345168" y="3410712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สถานะรายพื้นที่</a:t>
            </a:r>
            <a:endParaRPr lang="en-US" sz="1700" dirty="0"/>
          </a:p>
        </p:txBody>
      </p:sp>
      <p:sp>
        <p:nvSpPr>
          <p:cNvPr id="20" name="text-106"/>
          <p:cNvSpPr txBox="1"/>
          <p:nvPr/>
        </p:nvSpPr>
        <p:spPr>
          <a:xfrm>
            <a:off x="9345168" y="3758184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ปกติ / ต้องติดตาม / เร่งแก้ไข กดเจาะถึงเครื่อง</a:t>
            </a:r>
            <a:endParaRPr lang="en-US" sz="1400" dirty="0"/>
          </a:p>
        </p:txBody>
      </p:sp>
      <p:sp>
        <p:nvSpPr>
          <p:cNvPr id="21" name="icon-bg-107"/>
          <p:cNvSpPr/>
          <p:nvPr/>
        </p:nvSpPr>
        <p:spPr>
          <a:xfrm>
            <a:off x="8549640" y="4846320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2" name="icon-10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1372" y="4988052"/>
            <a:ext cx="283464" cy="283464"/>
          </a:xfrm>
          <a:prstGeom prst="rect">
            <a:avLst/>
          </a:prstGeom>
        </p:spPr>
      </p:pic>
      <p:sp>
        <p:nvSpPr>
          <p:cNvPr id="23" name="text-109"/>
          <p:cNvSpPr txBox="1"/>
          <p:nvPr/>
        </p:nvSpPr>
        <p:spPr>
          <a:xfrm>
            <a:off x="9345168" y="4828032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โหมด TV ห้องควบคุม</a:t>
            </a:r>
            <a:endParaRPr lang="en-US" sz="1700" dirty="0"/>
          </a:p>
        </p:txBody>
      </p:sp>
      <p:sp>
        <p:nvSpPr>
          <p:cNvPr id="24" name="text-110"/>
          <p:cNvSpPr txBox="1"/>
          <p:nvPr/>
        </p:nvSpPr>
        <p:spPr>
          <a:xfrm>
            <a:off x="9345168" y="5175504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จอใหญ่ พื้นเข้ม รีเฟรชเองทุก 1 นาที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05  ·  วินัยการตรวจ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รู้ทันทีว่ารอบไหนรอตรวจ เลยกำหนด หรือขาดตรวจ</a:t>
            </a:r>
            <a:endParaRPr lang="en-US" sz="3200" dirty="0"/>
          </a:p>
        </p:txBody>
      </p:sp>
      <p:sp>
        <p:nvSpPr>
          <p:cNvPr id="4" name="status-dot-111"/>
          <p:cNvSpPr/>
          <p:nvPr/>
        </p:nvSpPr>
        <p:spPr>
          <a:xfrm>
            <a:off x="594360" y="210312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-112"/>
          <p:cNvSpPr txBox="1"/>
          <p:nvPr/>
        </p:nvSpPr>
        <p:spPr>
          <a:xfrm>
            <a:off x="109728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รอตรวจ</a:t>
            </a:r>
            <a:endParaRPr lang="en-US" sz="1700" dirty="0"/>
          </a:p>
        </p:txBody>
      </p:sp>
      <p:sp>
        <p:nvSpPr>
          <p:cNvPr id="6" name="text-113"/>
          <p:cNvSpPr txBox="1"/>
          <p:nvPr/>
        </p:nvSpPr>
        <p:spPr>
          <a:xfrm>
            <a:off x="1097280" y="2359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อยู่ในเวลา ยังไม่ส่งผล</a:t>
            </a:r>
            <a:endParaRPr lang="en-US" sz="1400" dirty="0"/>
          </a:p>
        </p:txBody>
      </p:sp>
      <p:sp>
        <p:nvSpPr>
          <p:cNvPr id="7" name="status-dot-114"/>
          <p:cNvSpPr/>
          <p:nvPr/>
        </p:nvSpPr>
        <p:spPr>
          <a:xfrm>
            <a:off x="594360" y="2889504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-115"/>
          <p:cNvSpPr txBox="1"/>
          <p:nvPr/>
        </p:nvSpPr>
        <p:spPr>
          <a:xfrm>
            <a:off x="1097280" y="27980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ตรวจตรงเวลา</a:t>
            </a:r>
            <a:endParaRPr lang="en-US" sz="1700" dirty="0"/>
          </a:p>
        </p:txBody>
      </p:sp>
      <p:sp>
        <p:nvSpPr>
          <p:cNvPr id="9" name="text-116"/>
          <p:cNvSpPr txBox="1"/>
          <p:nvPr/>
        </p:nvSpPr>
        <p:spPr>
          <a:xfrm>
            <a:off x="1097280" y="31455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ส่งผลก่อนเวลาที่กำหนด</a:t>
            </a:r>
            <a:endParaRPr lang="en-US" sz="1400" dirty="0"/>
          </a:p>
        </p:txBody>
      </p:sp>
      <p:sp>
        <p:nvSpPr>
          <p:cNvPr id="10" name="status-dot-117"/>
          <p:cNvSpPr/>
          <p:nvPr/>
        </p:nvSpPr>
        <p:spPr>
          <a:xfrm>
            <a:off x="594360" y="3675888"/>
            <a:ext cx="274320" cy="2743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" name="text-118"/>
          <p:cNvSpPr txBox="1"/>
          <p:nvPr/>
        </p:nvSpPr>
        <p:spPr>
          <a:xfrm>
            <a:off x="1097280" y="3584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เลยกำหนด</a:t>
            </a:r>
            <a:endParaRPr lang="en-US" sz="1700" dirty="0"/>
          </a:p>
        </p:txBody>
      </p:sp>
      <p:sp>
        <p:nvSpPr>
          <p:cNvPr id="12" name="text-119"/>
          <p:cNvSpPr txBox="1"/>
          <p:nvPr/>
        </p:nvSpPr>
        <p:spPr>
          <a:xfrm>
            <a:off x="109728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ยังตรวจได้ แต่เกินเวลาเป้าหมาย</a:t>
            </a:r>
            <a:endParaRPr lang="en-US" sz="1400" dirty="0"/>
          </a:p>
        </p:txBody>
      </p:sp>
      <p:sp>
        <p:nvSpPr>
          <p:cNvPr id="13" name="status-dot-120"/>
          <p:cNvSpPr/>
          <p:nvPr/>
        </p:nvSpPr>
        <p:spPr>
          <a:xfrm>
            <a:off x="594360" y="4462272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-121"/>
          <p:cNvSpPr txBox="1"/>
          <p:nvPr/>
        </p:nvSpPr>
        <p:spPr>
          <a:xfrm>
            <a:off x="1097280" y="4370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ขาดตรวจ</a:t>
            </a:r>
            <a:endParaRPr lang="en-US" sz="1700" dirty="0"/>
          </a:p>
        </p:txBody>
      </p:sp>
      <p:sp>
        <p:nvSpPr>
          <p:cNvPr id="15" name="text-122"/>
          <p:cNvSpPr txBox="1"/>
          <p:nvPr/>
        </p:nvSpPr>
        <p:spPr>
          <a:xfrm>
            <a:off x="1097280" y="47183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ปิดรอบแล้วไม่มีผล แจ้งเตือนอัตโนมัติ</a:t>
            </a:r>
            <a:endParaRPr lang="en-US" sz="1400" dirty="0"/>
          </a:p>
        </p:txBody>
      </p:sp>
      <p:sp>
        <p:nvSpPr>
          <p:cNvPr id="16" name="status-dot-123"/>
          <p:cNvSpPr/>
          <p:nvPr/>
        </p:nvSpPr>
        <p:spPr>
          <a:xfrm>
            <a:off x="594360" y="5248656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-124"/>
          <p:cNvSpPr txBox="1"/>
          <p:nvPr/>
        </p:nvSpPr>
        <p:spPr>
          <a:xfrm>
            <a:off x="1097280" y="51572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เครื่องหยุด / สำรอง</a:t>
            </a:r>
            <a:endParaRPr lang="en-US" sz="1700" dirty="0"/>
          </a:p>
        </p:txBody>
      </p:sp>
      <p:sp>
        <p:nvSpPr>
          <p:cNvPr id="18" name="text-125"/>
          <p:cNvSpPr txBox="1"/>
          <p:nvPr/>
        </p:nvSpPr>
        <p:spPr>
          <a:xfrm>
            <a:off x="1097280" y="5504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ไม่นับเป็นขาดตรวจ ตัวเลขไม่หลอกตา</a:t>
            </a:r>
            <a:endParaRPr lang="en-US" sz="1400" dirty="0"/>
          </a:p>
        </p:txBody>
      </p:sp>
      <p:pic>
        <p:nvPicPr>
          <p:cNvPr id="19" name="ภาพหน้าจอ: ติดตามรอบตรวจ" descr="ภาพหน้าจอ: ติดตามรอบตรว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965960"/>
            <a:ext cx="6355080" cy="3736085"/>
          </a:xfrm>
          <a:prstGeom prst="rect">
            <a:avLst/>
          </a:prstGeom>
        </p:spPr>
      </p:pic>
      <p:sp>
        <p:nvSpPr>
          <p:cNvPr id="20" name="hud-126"/>
          <p:cNvSpPr/>
          <p:nvPr/>
        </p:nvSpPr>
        <p:spPr>
          <a:xfrm>
            <a:off x="5175504" y="1883664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1" name="hud-127"/>
          <p:cNvSpPr/>
          <p:nvPr/>
        </p:nvSpPr>
        <p:spPr>
          <a:xfrm>
            <a:off x="5175504" y="188366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2" name="hud-128"/>
          <p:cNvSpPr/>
          <p:nvPr/>
        </p:nvSpPr>
        <p:spPr>
          <a:xfrm>
            <a:off x="11475720" y="1883664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3" name="hud-129"/>
          <p:cNvSpPr/>
          <p:nvPr/>
        </p:nvSpPr>
        <p:spPr>
          <a:xfrm>
            <a:off x="11695176" y="188366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4" name="hud-130"/>
          <p:cNvSpPr/>
          <p:nvPr/>
        </p:nvSpPr>
        <p:spPr>
          <a:xfrm>
            <a:off x="5175504" y="5784341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5" name="hud-131"/>
          <p:cNvSpPr/>
          <p:nvPr/>
        </p:nvSpPr>
        <p:spPr>
          <a:xfrm>
            <a:off x="5175504" y="5564885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6" name="hud-132"/>
          <p:cNvSpPr/>
          <p:nvPr/>
        </p:nvSpPr>
        <p:spPr>
          <a:xfrm>
            <a:off x="11475720" y="5784341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7" name="hud-133"/>
          <p:cNvSpPr/>
          <p:nvPr/>
        </p:nvSpPr>
        <p:spPr>
          <a:xfrm>
            <a:off x="11695176" y="5564885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06  ·  เชื่อมต่อ SCADA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ค่าจาก SCADA ลงใบตรวจให้เอง ช่างโฟกัสงานที่ต้องใช้คน</a:t>
            </a:r>
            <a:endParaRPr lang="en-US" sz="3200" dirty="0"/>
          </a:p>
        </p:txBody>
      </p:sp>
      <p:sp>
        <p:nvSpPr>
          <p:cNvPr id="4" name="card-134"/>
          <p:cNvSpPr/>
          <p:nvPr/>
        </p:nvSpPr>
        <p:spPr>
          <a:xfrm>
            <a:off x="548640" y="1965960"/>
            <a:ext cx="4937760" cy="1188720"/>
          </a:xfrm>
          <a:prstGeom prst="roundRect">
            <a:avLst>
              <a:gd name="adj" fmla="val 9231"/>
            </a:avLst>
          </a:prstGeom>
          <a:solidFill>
            <a:schemeClr val="tx2">
              <a:alpha val="8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icon-bg-135"/>
          <p:cNvSpPr/>
          <p:nvPr/>
        </p:nvSpPr>
        <p:spPr>
          <a:xfrm>
            <a:off x="822960" y="2258568"/>
            <a:ext cx="603504" cy="603504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con-13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409444"/>
            <a:ext cx="301752" cy="301752"/>
          </a:xfrm>
          <a:prstGeom prst="rect">
            <a:avLst/>
          </a:prstGeom>
        </p:spPr>
      </p:pic>
      <p:sp>
        <p:nvSpPr>
          <p:cNvPr id="7" name="text-137"/>
          <p:cNvSpPr txBox="1"/>
          <p:nvPr/>
        </p:nvSpPr>
        <p:spPr>
          <a:xfrm>
            <a:off x="164592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เชื่อมต่อแหล่งข้อมูล</a:t>
            </a:r>
            <a:endParaRPr lang="en-US" sz="1700" dirty="0"/>
          </a:p>
        </p:txBody>
      </p:sp>
      <p:sp>
        <p:nvSpPr>
          <p:cNvPr id="8" name="text-138"/>
          <p:cNvSpPr txBox="1"/>
          <p:nvPr/>
        </p:nvSpPr>
        <p:spPr>
          <a:xfrm>
            <a:off x="164592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SQL Server / Historian แบบอ่านอย่างเดียว ดึงต่อเนื่องตามรอบที่ตั้ง</a:t>
            </a:r>
            <a:endParaRPr lang="en-US" sz="1400" dirty="0"/>
          </a:p>
        </p:txBody>
      </p:sp>
      <p:sp>
        <p:nvSpPr>
          <p:cNvPr id="9" name="card-139"/>
          <p:cNvSpPr/>
          <p:nvPr/>
        </p:nvSpPr>
        <p:spPr>
          <a:xfrm>
            <a:off x="548640" y="3337560"/>
            <a:ext cx="4937760" cy="1188720"/>
          </a:xfrm>
          <a:prstGeom prst="roundRect">
            <a:avLst>
              <a:gd name="adj" fmla="val 9231"/>
            </a:avLst>
          </a:prstGeom>
          <a:solidFill>
            <a:schemeClr val="tx2">
              <a:alpha val="8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icon-bg-140"/>
          <p:cNvSpPr/>
          <p:nvPr/>
        </p:nvSpPr>
        <p:spPr>
          <a:xfrm>
            <a:off x="822960" y="3630168"/>
            <a:ext cx="603504" cy="603504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1" name="icon-14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3781044"/>
            <a:ext cx="301752" cy="301752"/>
          </a:xfrm>
          <a:prstGeom prst="rect">
            <a:avLst/>
          </a:prstGeom>
        </p:spPr>
      </p:pic>
      <p:sp>
        <p:nvSpPr>
          <p:cNvPr id="12" name="text-142"/>
          <p:cNvSpPr txBox="1"/>
          <p:nvPr/>
        </p:nvSpPr>
        <p:spPr>
          <a:xfrm>
            <a:off x="16459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จับคู่ Tag กับหัวข้อตรวจ</a:t>
            </a:r>
            <a:endParaRPr lang="en-US" sz="1700" dirty="0"/>
          </a:p>
        </p:txBody>
      </p:sp>
      <p:sp>
        <p:nvSpPr>
          <p:cNvPr id="13" name="text-143"/>
          <p:cNvSpPr txBox="1"/>
          <p:nvPr/>
        </p:nvSpPr>
        <p:spPr>
          <a:xfrm>
            <a:off x="1645920" y="3886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นำเข้า / ส่งออก Excel ตั้งตัวคูณ ค่าบวก และช่วงค่าที่เป็นไปได้</a:t>
            </a:r>
            <a:endParaRPr lang="en-US" sz="1400" dirty="0"/>
          </a:p>
        </p:txBody>
      </p:sp>
      <p:sp>
        <p:nvSpPr>
          <p:cNvPr id="14" name="card-144"/>
          <p:cNvSpPr/>
          <p:nvPr/>
        </p:nvSpPr>
        <p:spPr>
          <a:xfrm>
            <a:off x="548640" y="4709160"/>
            <a:ext cx="4937760" cy="1188720"/>
          </a:xfrm>
          <a:prstGeom prst="roundRect">
            <a:avLst>
              <a:gd name="adj" fmla="val 9231"/>
            </a:avLst>
          </a:prstGeom>
          <a:solidFill>
            <a:schemeClr val="tx2">
              <a:alpha val="8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icon-bg-145"/>
          <p:cNvSpPr/>
          <p:nvPr/>
        </p:nvSpPr>
        <p:spPr>
          <a:xfrm>
            <a:off x="822960" y="5001768"/>
            <a:ext cx="603504" cy="603504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6" name="icon-14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5152644"/>
            <a:ext cx="301752" cy="301752"/>
          </a:xfrm>
          <a:prstGeom prst="rect">
            <a:avLst/>
          </a:prstGeom>
        </p:spPr>
      </p:pic>
      <p:sp>
        <p:nvSpPr>
          <p:cNvPr id="17" name="text-147"/>
          <p:cNvSpPr txBox="1"/>
          <p:nvPr/>
        </p:nvSpPr>
        <p:spPr>
          <a:xfrm>
            <a:off x="164592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ลงค่าตามเวลารอบ</a:t>
            </a:r>
            <a:endParaRPr lang="en-US" sz="1700" dirty="0"/>
          </a:p>
        </p:txBody>
      </p:sp>
      <p:sp>
        <p:nvSpPr>
          <p:cNvPr id="18" name="text-148"/>
          <p:cNvSpPr txBox="1"/>
          <p:nvPr/>
        </p:nvSpPr>
        <p:spPr>
          <a:xfrm>
            <a:off x="1645920" y="5257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เติมช่องที่ขาดย้อนหลังได้ ไม่แตะค่าที่ช่างกรอกเอง ข้ามเครื่องที่หยุด</a:t>
            </a:r>
            <a:endParaRPr lang="en-US" sz="1400" dirty="0"/>
          </a:p>
        </p:txBody>
      </p:sp>
      <p:pic>
        <p:nvPicPr>
          <p:cNvPr id="19" name="ภาพหน้าจอ: ตั้งค่าแหล่งข้อมูล SCADA" descr="ภาพหน้าจอ: ตั้งค่าแหล่งข้อมูล SCAD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965960"/>
            <a:ext cx="5715000" cy="3571875"/>
          </a:xfrm>
          <a:prstGeom prst="rect">
            <a:avLst/>
          </a:prstGeom>
        </p:spPr>
      </p:pic>
      <p:sp>
        <p:nvSpPr>
          <p:cNvPr id="20" name="hud-149"/>
          <p:cNvSpPr/>
          <p:nvPr/>
        </p:nvSpPr>
        <p:spPr>
          <a:xfrm>
            <a:off x="5815584" y="1883664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1" name="hud-150"/>
          <p:cNvSpPr/>
          <p:nvPr/>
        </p:nvSpPr>
        <p:spPr>
          <a:xfrm>
            <a:off x="5815584" y="188366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2" name="hud-151"/>
          <p:cNvSpPr/>
          <p:nvPr/>
        </p:nvSpPr>
        <p:spPr>
          <a:xfrm>
            <a:off x="11475720" y="1883664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3" name="hud-152"/>
          <p:cNvSpPr/>
          <p:nvPr/>
        </p:nvSpPr>
        <p:spPr>
          <a:xfrm>
            <a:off x="11695176" y="188366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4" name="hud-153"/>
          <p:cNvSpPr/>
          <p:nvPr/>
        </p:nvSpPr>
        <p:spPr>
          <a:xfrm>
            <a:off x="5815584" y="5620131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5" name="hud-154"/>
          <p:cNvSpPr/>
          <p:nvPr/>
        </p:nvSpPr>
        <p:spPr>
          <a:xfrm>
            <a:off x="5815584" y="5400675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6" name="hud-155"/>
          <p:cNvSpPr/>
          <p:nvPr/>
        </p:nvSpPr>
        <p:spPr>
          <a:xfrm>
            <a:off x="11475720" y="5620131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7" name="hud-156"/>
          <p:cNvSpPr/>
          <p:nvPr/>
        </p:nvSpPr>
        <p:spPr>
          <a:xfrm>
            <a:off x="11695176" y="5400675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07  ·  แจ้งเตือนอัจฉริยะ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ค่าผิดปกติถึงคนที่ต้องรู้ ก่อนกลายเป็นเครื่องเสีย</a:t>
            </a:r>
            <a:endParaRPr lang="en-US" sz="3200" dirty="0"/>
          </a:p>
        </p:txBody>
      </p:sp>
      <p:sp>
        <p:nvSpPr>
          <p:cNvPr id="4" name="card-157"/>
          <p:cNvSpPr/>
          <p:nvPr/>
        </p:nvSpPr>
        <p:spPr>
          <a:xfrm>
            <a:off x="548640" y="4434840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-158"/>
          <p:cNvSpPr txBox="1"/>
          <p:nvPr/>
        </p:nvSpPr>
        <p:spPr>
          <a:xfrm>
            <a:off x="822960" y="44348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L1</a:t>
            </a:r>
            <a:endParaRPr lang="en-US" sz="2600" dirty="0"/>
          </a:p>
        </p:txBody>
      </p:sp>
      <p:sp>
        <p:nvSpPr>
          <p:cNvPr id="6" name="text-159"/>
          <p:cNvSpPr txBox="1"/>
          <p:nvPr/>
        </p:nvSpPr>
        <p:spPr>
          <a:xfrm>
            <a:off x="1645920" y="45628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ทันที</a:t>
            </a:r>
            <a:endParaRPr lang="en-US" sz="1700" dirty="0"/>
          </a:p>
        </p:txBody>
      </p:sp>
      <p:sp>
        <p:nvSpPr>
          <p:cNvPr id="7" name="text-160"/>
          <p:cNvSpPr txBox="1"/>
          <p:nvPr/>
        </p:nvSpPr>
        <p:spPr>
          <a:xfrm>
            <a:off x="1645920" y="4910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หัวหน้างานของโรงงานนั้น</a:t>
            </a:r>
            <a:endParaRPr lang="en-US" sz="1400" dirty="0"/>
          </a:p>
        </p:txBody>
      </p:sp>
      <p:sp>
        <p:nvSpPr>
          <p:cNvPr id="8" name="card-161"/>
          <p:cNvSpPr/>
          <p:nvPr/>
        </p:nvSpPr>
        <p:spPr>
          <a:xfrm>
            <a:off x="1051560" y="3383280"/>
            <a:ext cx="4617720" cy="914400"/>
          </a:xfrm>
          <a:prstGeom prst="roundRect">
            <a:avLst>
              <a:gd name="adj" fmla="val 1200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-162"/>
          <p:cNvSpPr txBox="1"/>
          <p:nvPr/>
        </p:nvSpPr>
        <p:spPr>
          <a:xfrm>
            <a:off x="1325880" y="33832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L2</a:t>
            </a:r>
            <a:endParaRPr lang="en-US" sz="2600" dirty="0"/>
          </a:p>
        </p:txBody>
      </p:sp>
      <p:sp>
        <p:nvSpPr>
          <p:cNvPr id="10" name="text-163"/>
          <p:cNvSpPr txBox="1"/>
          <p:nvPr/>
        </p:nvSpPr>
        <p:spPr>
          <a:xfrm>
            <a:off x="2148840" y="351129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30 นาที</a:t>
            </a:r>
            <a:endParaRPr lang="en-US" sz="1700" dirty="0"/>
          </a:p>
        </p:txBody>
      </p:sp>
      <p:sp>
        <p:nvSpPr>
          <p:cNvPr id="11" name="text-164"/>
          <p:cNvSpPr txBox="1"/>
          <p:nvPr/>
        </p:nvSpPr>
        <p:spPr>
          <a:xfrm>
            <a:off x="2148840" y="38587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ผู้ดูแลระบบ</a:t>
            </a:r>
            <a:endParaRPr lang="en-US" sz="1400" dirty="0"/>
          </a:p>
        </p:txBody>
      </p:sp>
      <p:sp>
        <p:nvSpPr>
          <p:cNvPr id="12" name="card-165"/>
          <p:cNvSpPr/>
          <p:nvPr/>
        </p:nvSpPr>
        <p:spPr>
          <a:xfrm>
            <a:off x="1554480" y="2331720"/>
            <a:ext cx="4114800" cy="914400"/>
          </a:xfrm>
          <a:prstGeom prst="roundRect">
            <a:avLst>
              <a:gd name="adj" fmla="val 12000"/>
            </a:avLst>
          </a:prstGeom>
          <a:solidFill>
            <a:schemeClr val="accent4">
              <a:alpha val="30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-166"/>
          <p:cNvSpPr txBox="1"/>
          <p:nvPr/>
        </p:nvSpPr>
        <p:spPr>
          <a:xfrm>
            <a:off x="1828800" y="23317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L3</a:t>
            </a:r>
            <a:endParaRPr lang="en-US" sz="2600" dirty="0"/>
          </a:p>
        </p:txBody>
      </p:sp>
      <p:sp>
        <p:nvSpPr>
          <p:cNvPr id="14" name="text-167"/>
          <p:cNvSpPr txBox="1"/>
          <p:nvPr/>
        </p:nvSpPr>
        <p:spPr>
          <a:xfrm>
            <a:off x="2651760" y="24597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120 นาที</a:t>
            </a:r>
            <a:endParaRPr lang="en-US" sz="1700" dirty="0"/>
          </a:p>
        </p:txBody>
      </p:sp>
      <p:sp>
        <p:nvSpPr>
          <p:cNvPr id="15" name="text-168"/>
          <p:cNvSpPr txBox="1"/>
          <p:nvPr/>
        </p:nvSpPr>
        <p:spPr>
          <a:xfrm>
            <a:off x="2651760" y="28072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ผู้จัดการ (เฉพาะวิกฤต)</a:t>
            </a:r>
            <a:endParaRPr lang="en-US" sz="1400" dirty="0"/>
          </a:p>
        </p:txBody>
      </p:sp>
      <p:sp>
        <p:nvSpPr>
          <p:cNvPr id="16" name="text-169"/>
          <p:cNvSpPr txBox="1"/>
          <p:nvPr/>
        </p:nvSpPr>
        <p:spPr>
          <a:xfrm>
            <a:off x="548640" y="5577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ไม่มีใครกดรับทราบตามเวลา = ส่งต่อขั้นถัดไปอัตโนมัติ</a:t>
            </a:r>
            <a:endParaRPr lang="en-US" sz="1400" dirty="0"/>
          </a:p>
        </p:txBody>
      </p:sp>
      <p:sp>
        <p:nvSpPr>
          <p:cNvPr id="17" name="text-170"/>
          <p:cNvSpPr txBox="1"/>
          <p:nvPr/>
        </p:nvSpPr>
        <p:spPr>
          <a:xfrm>
            <a:off x="640080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ช่องทางแจ้งเตือน</a:t>
            </a:r>
            <a:endParaRPr lang="en-US" sz="1500" dirty="0"/>
          </a:p>
        </p:txBody>
      </p:sp>
      <p:sp>
        <p:nvSpPr>
          <p:cNvPr id="18" name="icon-bg-171"/>
          <p:cNvSpPr/>
          <p:nvPr/>
        </p:nvSpPr>
        <p:spPr>
          <a:xfrm>
            <a:off x="6556248" y="2468880"/>
            <a:ext cx="658368" cy="65836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9" name="icon-17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633472"/>
            <a:ext cx="329184" cy="329184"/>
          </a:xfrm>
          <a:prstGeom prst="rect">
            <a:avLst/>
          </a:prstGeom>
        </p:spPr>
      </p:pic>
      <p:sp>
        <p:nvSpPr>
          <p:cNvPr id="20" name="text-173"/>
          <p:cNvSpPr txBox="1"/>
          <p:nvPr/>
        </p:nvSpPr>
        <p:spPr>
          <a:xfrm>
            <a:off x="6355080" y="320040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กระดิ่งในระบบ</a:t>
            </a:r>
            <a:endParaRPr lang="en-US" sz="1200" dirty="0"/>
          </a:p>
        </p:txBody>
      </p:sp>
      <p:sp>
        <p:nvSpPr>
          <p:cNvPr id="21" name="icon-bg-174"/>
          <p:cNvSpPr/>
          <p:nvPr/>
        </p:nvSpPr>
        <p:spPr>
          <a:xfrm>
            <a:off x="7616952" y="2468880"/>
            <a:ext cx="658368" cy="65836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2" name="icon-17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544" y="2633472"/>
            <a:ext cx="329184" cy="329184"/>
          </a:xfrm>
          <a:prstGeom prst="rect">
            <a:avLst/>
          </a:prstGeom>
        </p:spPr>
      </p:pic>
      <p:sp>
        <p:nvSpPr>
          <p:cNvPr id="23" name="text-176"/>
          <p:cNvSpPr txBox="1"/>
          <p:nvPr/>
        </p:nvSpPr>
        <p:spPr>
          <a:xfrm>
            <a:off x="7415784" y="320040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LINE</a:t>
            </a:r>
            <a:endParaRPr lang="en-US" sz="1200" dirty="0"/>
          </a:p>
        </p:txBody>
      </p:sp>
      <p:sp>
        <p:nvSpPr>
          <p:cNvPr id="24" name="icon-bg-177"/>
          <p:cNvSpPr/>
          <p:nvPr/>
        </p:nvSpPr>
        <p:spPr>
          <a:xfrm>
            <a:off x="8677656" y="2468880"/>
            <a:ext cx="658368" cy="65836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5" name="icon-17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8" y="2633472"/>
            <a:ext cx="329184" cy="329184"/>
          </a:xfrm>
          <a:prstGeom prst="rect">
            <a:avLst/>
          </a:prstGeom>
        </p:spPr>
      </p:pic>
      <p:sp>
        <p:nvSpPr>
          <p:cNvPr id="26" name="text-179"/>
          <p:cNvSpPr txBox="1"/>
          <p:nvPr/>
        </p:nvSpPr>
        <p:spPr>
          <a:xfrm>
            <a:off x="8476488" y="320040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Telegram</a:t>
            </a:r>
            <a:endParaRPr lang="en-US" sz="1200" dirty="0"/>
          </a:p>
        </p:txBody>
      </p:sp>
      <p:sp>
        <p:nvSpPr>
          <p:cNvPr id="27" name="icon-bg-180"/>
          <p:cNvSpPr/>
          <p:nvPr/>
        </p:nvSpPr>
        <p:spPr>
          <a:xfrm>
            <a:off x="9738360" y="2468880"/>
            <a:ext cx="658368" cy="65836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8" name="icon-18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952" y="2633472"/>
            <a:ext cx="329184" cy="329184"/>
          </a:xfrm>
          <a:prstGeom prst="rect">
            <a:avLst/>
          </a:prstGeom>
        </p:spPr>
      </p:pic>
      <p:sp>
        <p:nvSpPr>
          <p:cNvPr id="29" name="text-182"/>
          <p:cNvSpPr txBox="1"/>
          <p:nvPr/>
        </p:nvSpPr>
        <p:spPr>
          <a:xfrm>
            <a:off x="9537192" y="320040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Teams</a:t>
            </a:r>
            <a:endParaRPr lang="en-US" sz="1200" dirty="0"/>
          </a:p>
        </p:txBody>
      </p:sp>
      <p:sp>
        <p:nvSpPr>
          <p:cNvPr id="30" name="icon-bg-183"/>
          <p:cNvSpPr/>
          <p:nvPr/>
        </p:nvSpPr>
        <p:spPr>
          <a:xfrm>
            <a:off x="10799064" y="2468880"/>
            <a:ext cx="658368" cy="65836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31" name="icon-18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3656" y="2633472"/>
            <a:ext cx="329184" cy="329184"/>
          </a:xfrm>
          <a:prstGeom prst="rect">
            <a:avLst/>
          </a:prstGeom>
        </p:spPr>
      </p:pic>
      <p:sp>
        <p:nvSpPr>
          <p:cNvPr id="32" name="text-185"/>
          <p:cNvSpPr txBox="1"/>
          <p:nvPr/>
        </p:nvSpPr>
        <p:spPr>
          <a:xfrm>
            <a:off x="10597896" y="320040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อีเมล</a:t>
            </a:r>
            <a:endParaRPr lang="en-US" sz="1200" dirty="0"/>
          </a:p>
        </p:txBody>
      </p:sp>
      <p:sp>
        <p:nvSpPr>
          <p:cNvPr id="33" name="card-186"/>
          <p:cNvSpPr/>
          <p:nvPr/>
        </p:nvSpPr>
        <p:spPr>
          <a:xfrm>
            <a:off x="6400800" y="3931920"/>
            <a:ext cx="5212080" cy="1691640"/>
          </a:xfrm>
          <a:prstGeom prst="roundRect">
            <a:avLst>
              <a:gd name="adj" fmla="val 6486"/>
            </a:avLst>
          </a:prstGeom>
          <a:solidFill>
            <a:schemeClr val="tx2">
              <a:alpha val="95000"/>
            </a:schemeClr>
          </a:solidFill>
          <a:ln w="1587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icon-bg-187"/>
          <p:cNvSpPr/>
          <p:nvPr/>
        </p:nvSpPr>
        <p:spPr>
          <a:xfrm>
            <a:off x="6720840" y="4279392"/>
            <a:ext cx="868680" cy="86868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5" name="icon-18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8010" y="4496562"/>
            <a:ext cx="434340" cy="434340"/>
          </a:xfrm>
          <a:prstGeom prst="rect">
            <a:avLst/>
          </a:prstGeom>
        </p:spPr>
      </p:pic>
      <p:sp>
        <p:nvSpPr>
          <p:cNvPr id="36" name="text-189"/>
          <p:cNvSpPr txBox="1"/>
          <p:nvPr/>
        </p:nvSpPr>
        <p:spPr>
          <a:xfrm>
            <a:off x="7818120" y="4206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NG → ใบแจ้งซ่อม UT-CMMS</a:t>
            </a:r>
            <a:endParaRPr lang="en-US" sz="1800" dirty="0"/>
          </a:p>
        </p:txBody>
      </p:sp>
      <p:sp>
        <p:nvSpPr>
          <p:cNvPr id="37" name="text-190"/>
          <p:cNvSpPr txBox="1"/>
          <p:nvPr/>
        </p:nvSpPr>
        <p:spPr>
          <a:xfrm>
            <a:off x="7818120" y="46634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เปิดให้อัตโนมัติ 1 ผลตรวจ = 1 ใบ รวมทุกหัวข้อ NG ทีมซ่อมรับงานได้ทันที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08  ·  วิเคราะห์เชิงสถิติ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จากค่าที่จด สู่สัญญาณเตือนล่วงหน้า</a:t>
            </a:r>
            <a:endParaRPr lang="en-US" sz="3200" dirty="0"/>
          </a:p>
        </p:txBody>
      </p:sp>
      <p:sp>
        <p:nvSpPr>
          <p:cNvPr id="4" name="card-191"/>
          <p:cNvSpPr/>
          <p:nvPr/>
        </p:nvSpPr>
        <p:spPr>
          <a:xfrm>
            <a:off x="548640" y="1965960"/>
            <a:ext cx="2286000" cy="1783080"/>
          </a:xfrm>
          <a:prstGeom prst="roundRect">
            <a:avLst>
              <a:gd name="adj" fmla="val 6154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icon-bg-192"/>
          <p:cNvSpPr/>
          <p:nvPr/>
        </p:nvSpPr>
        <p:spPr>
          <a:xfrm>
            <a:off x="822960" y="2240280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con-19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382012"/>
            <a:ext cx="283464" cy="283464"/>
          </a:xfrm>
          <a:prstGeom prst="rect">
            <a:avLst/>
          </a:prstGeom>
        </p:spPr>
      </p:pic>
      <p:sp>
        <p:nvSpPr>
          <p:cNvPr id="7" name="text-194"/>
          <p:cNvSpPr txBox="1"/>
          <p:nvPr/>
        </p:nvSpPr>
        <p:spPr>
          <a:xfrm>
            <a:off x="82296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Control Chart</a:t>
            </a:r>
            <a:endParaRPr lang="en-US" sz="1700" dirty="0"/>
          </a:p>
        </p:txBody>
      </p:sp>
      <p:sp>
        <p:nvSpPr>
          <p:cNvPr id="8" name="text-195"/>
          <p:cNvSpPr txBox="1"/>
          <p:nvPr/>
        </p:nvSpPr>
        <p:spPr>
          <a:xfrm>
            <a:off x="822960" y="320954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Mean ± 3σ จับจุดผิดปกติทางสถิติก่อนเกินเกณฑ์</a:t>
            </a:r>
            <a:endParaRPr lang="en-US" sz="1300" dirty="0"/>
          </a:p>
        </p:txBody>
      </p:sp>
      <p:sp>
        <p:nvSpPr>
          <p:cNvPr id="9" name="card-196"/>
          <p:cNvSpPr/>
          <p:nvPr/>
        </p:nvSpPr>
        <p:spPr>
          <a:xfrm>
            <a:off x="3063240" y="1965960"/>
            <a:ext cx="2286000" cy="1783080"/>
          </a:xfrm>
          <a:prstGeom prst="roundRect">
            <a:avLst>
              <a:gd name="adj" fmla="val 6154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icon-bg-197"/>
          <p:cNvSpPr/>
          <p:nvPr/>
        </p:nvSpPr>
        <p:spPr>
          <a:xfrm>
            <a:off x="3337560" y="2240280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1" name="icon-19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292" y="2382012"/>
            <a:ext cx="283464" cy="283464"/>
          </a:xfrm>
          <a:prstGeom prst="rect">
            <a:avLst/>
          </a:prstGeom>
        </p:spPr>
      </p:pic>
      <p:sp>
        <p:nvSpPr>
          <p:cNvPr id="12" name="text-199"/>
          <p:cNvSpPr txBox="1"/>
          <p:nvPr/>
        </p:nvSpPr>
        <p:spPr>
          <a:xfrm>
            <a:off x="333756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Cpk</a:t>
            </a:r>
            <a:endParaRPr lang="en-US" sz="1700" dirty="0"/>
          </a:p>
        </p:txBody>
      </p:sp>
      <p:sp>
        <p:nvSpPr>
          <p:cNvPr id="13" name="text-200"/>
          <p:cNvSpPr txBox="1"/>
          <p:nvPr/>
        </p:nvSpPr>
        <p:spPr>
          <a:xfrm>
            <a:off x="3337560" y="320954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ความสามารถของกระบวนการ รายหัวข้อ</a:t>
            </a:r>
            <a:endParaRPr lang="en-US" sz="1300" dirty="0"/>
          </a:p>
        </p:txBody>
      </p:sp>
      <p:sp>
        <p:nvSpPr>
          <p:cNvPr id="14" name="card-201"/>
          <p:cNvSpPr/>
          <p:nvPr/>
        </p:nvSpPr>
        <p:spPr>
          <a:xfrm>
            <a:off x="548640" y="3977640"/>
            <a:ext cx="2286000" cy="1783080"/>
          </a:xfrm>
          <a:prstGeom prst="roundRect">
            <a:avLst>
              <a:gd name="adj" fmla="val 6154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icon-bg-202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6" name="icon-20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17" name="text-204"/>
          <p:cNvSpPr txBox="1"/>
          <p:nvPr/>
        </p:nvSpPr>
        <p:spPr>
          <a:xfrm>
            <a:off x="822960" y="4892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Pareto NG</a:t>
            </a:r>
            <a:endParaRPr lang="en-US" sz="1700" dirty="0"/>
          </a:p>
        </p:txBody>
      </p:sp>
      <p:sp>
        <p:nvSpPr>
          <p:cNvPr id="18" name="text-205"/>
          <p:cNvSpPr txBox="1"/>
          <p:nvPr/>
        </p:nvSpPr>
        <p:spPr>
          <a:xfrm>
            <a:off x="822960" y="522122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หัวข้อที่ผิดปกติบ่อยที่สุด แก้ให้ตรงจุด</a:t>
            </a:r>
            <a:endParaRPr lang="en-US" sz="1300" dirty="0"/>
          </a:p>
        </p:txBody>
      </p:sp>
      <p:sp>
        <p:nvSpPr>
          <p:cNvPr id="19" name="card-206"/>
          <p:cNvSpPr/>
          <p:nvPr/>
        </p:nvSpPr>
        <p:spPr>
          <a:xfrm>
            <a:off x="3063240" y="3977640"/>
            <a:ext cx="2286000" cy="1783080"/>
          </a:xfrm>
          <a:prstGeom prst="roundRect">
            <a:avLst>
              <a:gd name="adj" fmla="val 6154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icon-bg-207"/>
          <p:cNvSpPr/>
          <p:nvPr/>
        </p:nvSpPr>
        <p:spPr>
          <a:xfrm>
            <a:off x="3337560" y="4251960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1" name="icon-20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292" y="4393692"/>
            <a:ext cx="283464" cy="283464"/>
          </a:xfrm>
          <a:prstGeom prst="rect">
            <a:avLst/>
          </a:prstGeom>
        </p:spPr>
      </p:pic>
      <p:sp>
        <p:nvSpPr>
          <p:cNvPr id="22" name="text-209"/>
          <p:cNvSpPr txBox="1"/>
          <p:nvPr/>
        </p:nvSpPr>
        <p:spPr>
          <a:xfrm>
            <a:off x="3337560" y="4892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Heatmap</a:t>
            </a:r>
            <a:endParaRPr lang="en-US" sz="1700" dirty="0"/>
          </a:p>
        </p:txBody>
      </p:sp>
      <p:sp>
        <p:nvSpPr>
          <p:cNvPr id="23" name="text-210"/>
          <p:cNvSpPr txBox="1"/>
          <p:nvPr/>
        </p:nvSpPr>
        <p:spPr>
          <a:xfrm>
            <a:off x="3337560" y="522122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ตรวจตรงเวลา แยกพื้นที่ × วัน</a:t>
            </a:r>
            <a:endParaRPr lang="en-US" sz="1300" dirty="0"/>
          </a:p>
        </p:txBody>
      </p:sp>
      <p:pic>
        <p:nvPicPr>
          <p:cNvPr id="24" name="ภาพหน้าจอ: แนวโน้มเครื่องจักร" descr="ภาพหน้าจอ: แนวโน้มเครื่องจักร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965960"/>
            <a:ext cx="5806440" cy="3845325"/>
          </a:xfrm>
          <a:prstGeom prst="rect">
            <a:avLst/>
          </a:prstGeom>
        </p:spPr>
      </p:pic>
      <p:sp>
        <p:nvSpPr>
          <p:cNvPr id="25" name="hud-211"/>
          <p:cNvSpPr/>
          <p:nvPr/>
        </p:nvSpPr>
        <p:spPr>
          <a:xfrm>
            <a:off x="5724144" y="1883664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6" name="hud-212"/>
          <p:cNvSpPr/>
          <p:nvPr/>
        </p:nvSpPr>
        <p:spPr>
          <a:xfrm>
            <a:off x="5724144" y="188366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7" name="hud-213"/>
          <p:cNvSpPr/>
          <p:nvPr/>
        </p:nvSpPr>
        <p:spPr>
          <a:xfrm>
            <a:off x="11475720" y="1883664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8" name="hud-214"/>
          <p:cNvSpPr/>
          <p:nvPr/>
        </p:nvSpPr>
        <p:spPr>
          <a:xfrm>
            <a:off x="11695176" y="188366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9" name="hud-215"/>
          <p:cNvSpPr/>
          <p:nvPr/>
        </p:nvSpPr>
        <p:spPr>
          <a:xfrm>
            <a:off x="5724144" y="5893581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30" name="hud-216"/>
          <p:cNvSpPr/>
          <p:nvPr/>
        </p:nvSpPr>
        <p:spPr>
          <a:xfrm>
            <a:off x="5724144" y="5674125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31" name="hud-217"/>
          <p:cNvSpPr/>
          <p:nvPr/>
        </p:nvSpPr>
        <p:spPr>
          <a:xfrm>
            <a:off x="11475720" y="5893581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32" name="hud-218"/>
          <p:cNvSpPr/>
          <p:nvPr/>
        </p:nvSpPr>
        <p:spPr>
          <a:xfrm>
            <a:off x="11695176" y="5674125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09  ·  ENERGY DATA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ต่อยอดสู่การบริหารพลังงาน บนแพลตฟอร์มเดียวกัน</a:t>
            </a:r>
            <a:endParaRPr lang="en-US" sz="3200" dirty="0"/>
          </a:p>
        </p:txBody>
      </p:sp>
      <p:pic>
        <p:nvPicPr>
          <p:cNvPr id="4" name="ภาพหน้าจอ: ทะเบียนมิเตอร์ Energy Data" descr="ภาพหน้าจอ: ทะเบียนมิเตอร์ Energy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6675120" cy="3675727"/>
          </a:xfrm>
          <a:prstGeom prst="rect">
            <a:avLst/>
          </a:prstGeom>
        </p:spPr>
      </p:pic>
      <p:sp>
        <p:nvSpPr>
          <p:cNvPr id="5" name="hud-219"/>
          <p:cNvSpPr/>
          <p:nvPr/>
        </p:nvSpPr>
        <p:spPr>
          <a:xfrm>
            <a:off x="466344" y="1883664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6" name="hud-220"/>
          <p:cNvSpPr/>
          <p:nvPr/>
        </p:nvSpPr>
        <p:spPr>
          <a:xfrm>
            <a:off x="466344" y="188366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7" name="hud-221"/>
          <p:cNvSpPr/>
          <p:nvPr/>
        </p:nvSpPr>
        <p:spPr>
          <a:xfrm>
            <a:off x="7086600" y="1883664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8" name="hud-222"/>
          <p:cNvSpPr/>
          <p:nvPr/>
        </p:nvSpPr>
        <p:spPr>
          <a:xfrm>
            <a:off x="7306056" y="188366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9" name="hud-223"/>
          <p:cNvSpPr/>
          <p:nvPr/>
        </p:nvSpPr>
        <p:spPr>
          <a:xfrm>
            <a:off x="466344" y="5723983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0" name="hud-224"/>
          <p:cNvSpPr/>
          <p:nvPr/>
        </p:nvSpPr>
        <p:spPr>
          <a:xfrm>
            <a:off x="466344" y="5504527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1" name="hud-225"/>
          <p:cNvSpPr/>
          <p:nvPr/>
        </p:nvSpPr>
        <p:spPr>
          <a:xfrm>
            <a:off x="7086600" y="5723983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2" name="hud-226"/>
          <p:cNvSpPr/>
          <p:nvPr/>
        </p:nvSpPr>
        <p:spPr>
          <a:xfrm>
            <a:off x="7306056" y="5504527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3" name="icon-bg-227"/>
          <p:cNvSpPr/>
          <p:nvPr/>
        </p:nvSpPr>
        <p:spPr>
          <a:xfrm>
            <a:off x="7772400" y="2011680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4" name="icon-22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132" y="2153412"/>
            <a:ext cx="283464" cy="283464"/>
          </a:xfrm>
          <a:prstGeom prst="rect">
            <a:avLst/>
          </a:prstGeom>
        </p:spPr>
      </p:pic>
      <p:sp>
        <p:nvSpPr>
          <p:cNvPr id="15" name="text-229"/>
          <p:cNvSpPr txBox="1"/>
          <p:nvPr/>
        </p:nvSpPr>
        <p:spPr>
          <a:xfrm>
            <a:off x="8567928" y="199339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มิเตอร์ไฟฟ้า · ลม · น้ำ</a:t>
            </a:r>
            <a:endParaRPr lang="en-US" sz="1700" dirty="0"/>
          </a:p>
        </p:txBody>
      </p:sp>
      <p:sp>
        <p:nvSpPr>
          <p:cNvPr id="16" name="text-230"/>
          <p:cNvSpPr txBox="1"/>
          <p:nvPr/>
        </p:nvSpPr>
        <p:spPr>
          <a:xfrm>
            <a:off x="8567928" y="2340864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จดหน้างาน หรือดึงจาก SCADA ทุก 15 นาที</a:t>
            </a:r>
            <a:endParaRPr lang="en-US" sz="1400" dirty="0"/>
          </a:p>
        </p:txBody>
      </p:sp>
      <p:sp>
        <p:nvSpPr>
          <p:cNvPr id="17" name="icon-bg-231"/>
          <p:cNvSpPr/>
          <p:nvPr/>
        </p:nvSpPr>
        <p:spPr>
          <a:xfrm>
            <a:off x="7772400" y="3429000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8" name="icon-2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132" y="3570732"/>
            <a:ext cx="283464" cy="283464"/>
          </a:xfrm>
          <a:prstGeom prst="rect">
            <a:avLst/>
          </a:prstGeom>
        </p:spPr>
      </p:pic>
      <p:sp>
        <p:nvSpPr>
          <p:cNvPr id="19" name="text-233"/>
          <p:cNvSpPr txBox="1"/>
          <p:nvPr/>
        </p:nvSpPr>
        <p:spPr>
          <a:xfrm>
            <a:off x="8567928" y="341071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TOU · Peak Demand</a:t>
            </a:r>
            <a:endParaRPr lang="en-US" sz="1700" dirty="0"/>
          </a:p>
        </p:txBody>
      </p:sp>
      <p:sp>
        <p:nvSpPr>
          <p:cNvPr id="20" name="text-234"/>
          <p:cNvSpPr txBox="1"/>
          <p:nvPr/>
        </p:nvSpPr>
        <p:spPr>
          <a:xfrm>
            <a:off x="8567928" y="3758184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เห็นช่วงเวลาที่ใช้ไฟสูง วางแผนลดค่าไฟ</a:t>
            </a:r>
            <a:endParaRPr lang="en-US" sz="1400" dirty="0"/>
          </a:p>
        </p:txBody>
      </p:sp>
      <p:sp>
        <p:nvSpPr>
          <p:cNvPr id="21" name="icon-bg-235"/>
          <p:cNvSpPr/>
          <p:nvPr/>
        </p:nvSpPr>
        <p:spPr>
          <a:xfrm>
            <a:off x="7772400" y="4846320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2" name="icon-23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132" y="4988052"/>
            <a:ext cx="283464" cy="283464"/>
          </a:xfrm>
          <a:prstGeom prst="rect">
            <a:avLst/>
          </a:prstGeom>
        </p:spPr>
      </p:pic>
      <p:sp>
        <p:nvSpPr>
          <p:cNvPr id="23" name="text-237"/>
          <p:cNvSpPr txBox="1"/>
          <p:nvPr/>
        </p:nvSpPr>
        <p:spPr>
          <a:xfrm>
            <a:off x="8567928" y="482803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ต้นทุนพลังงานรายพื้นที่</a:t>
            </a:r>
            <a:endParaRPr lang="en-US" sz="1700" dirty="0"/>
          </a:p>
        </p:txBody>
      </p:sp>
      <p:sp>
        <p:nvSpPr>
          <p:cNvPr id="24" name="text-238"/>
          <p:cNvSpPr txBox="1"/>
          <p:nvPr/>
        </p:nvSpPr>
        <p:spPr>
          <a:xfrm>
            <a:off x="8567928" y="5175504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เทียบเป้าหมายรายหน่วยงาน ออกรายงานได้ทันที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  ·  ความรับผิดชอบ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ทุกการตรวจมีเจ้าของ ตรวจสอบย้อนหลังได้ทุกขั้น</a:t>
            </a:r>
            <a:endParaRPr lang="en-US" sz="3200" dirty="0"/>
          </a:p>
        </p:txBody>
      </p:sp>
      <p:pic>
        <p:nvPicPr>
          <p:cNvPr id="4" name="ภาพหน้าจอ: ผลงานรายคน" descr="ภาพหน้าจอ: ผลงานรายค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6400800" cy="3762963"/>
          </a:xfrm>
          <a:prstGeom prst="rect">
            <a:avLst/>
          </a:prstGeom>
        </p:spPr>
      </p:pic>
      <p:sp>
        <p:nvSpPr>
          <p:cNvPr id="5" name="hud-239"/>
          <p:cNvSpPr/>
          <p:nvPr/>
        </p:nvSpPr>
        <p:spPr>
          <a:xfrm>
            <a:off x="466344" y="1883664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6" name="hud-240"/>
          <p:cNvSpPr/>
          <p:nvPr/>
        </p:nvSpPr>
        <p:spPr>
          <a:xfrm>
            <a:off x="466344" y="188366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7" name="hud-241"/>
          <p:cNvSpPr/>
          <p:nvPr/>
        </p:nvSpPr>
        <p:spPr>
          <a:xfrm>
            <a:off x="6812280" y="1883664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8" name="hud-242"/>
          <p:cNvSpPr/>
          <p:nvPr/>
        </p:nvSpPr>
        <p:spPr>
          <a:xfrm>
            <a:off x="7031736" y="1883664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9" name="hud-243"/>
          <p:cNvSpPr/>
          <p:nvPr/>
        </p:nvSpPr>
        <p:spPr>
          <a:xfrm>
            <a:off x="466344" y="5811219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0" name="hud-244"/>
          <p:cNvSpPr/>
          <p:nvPr/>
        </p:nvSpPr>
        <p:spPr>
          <a:xfrm>
            <a:off x="466344" y="5591763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1" name="hud-245"/>
          <p:cNvSpPr/>
          <p:nvPr/>
        </p:nvSpPr>
        <p:spPr>
          <a:xfrm>
            <a:off x="6812280" y="5811219"/>
            <a:ext cx="2194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2" name="hud-246"/>
          <p:cNvSpPr/>
          <p:nvPr/>
        </p:nvSpPr>
        <p:spPr>
          <a:xfrm>
            <a:off x="7031736" y="5591763"/>
            <a:ext cx="0" cy="2194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3" name="icon-bg-247"/>
          <p:cNvSpPr/>
          <p:nvPr/>
        </p:nvSpPr>
        <p:spPr>
          <a:xfrm>
            <a:off x="7498080" y="2011680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4" name="icon-24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812" y="2153412"/>
            <a:ext cx="283464" cy="283464"/>
          </a:xfrm>
          <a:prstGeom prst="rect">
            <a:avLst/>
          </a:prstGeom>
        </p:spPr>
      </p:pic>
      <p:sp>
        <p:nvSpPr>
          <p:cNvPr id="15" name="text-249"/>
          <p:cNvSpPr txBox="1"/>
          <p:nvPr/>
        </p:nvSpPr>
        <p:spPr>
          <a:xfrm>
            <a:off x="8293608" y="199339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ผลงานรายคน</a:t>
            </a:r>
            <a:endParaRPr lang="en-US" sz="1700" dirty="0"/>
          </a:p>
        </p:txBody>
      </p:sp>
      <p:sp>
        <p:nvSpPr>
          <p:cNvPr id="16" name="text-250"/>
          <p:cNvSpPr txBox="1"/>
          <p:nvPr/>
        </p:nvSpPr>
        <p:spPr>
          <a:xfrm>
            <a:off x="8293608" y="234086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รอบที่ตรวจ ตรงเวลา NG ที่พบ เจาะดูได้ทีละคน</a:t>
            </a:r>
            <a:endParaRPr lang="en-US" sz="1400" dirty="0"/>
          </a:p>
        </p:txBody>
      </p:sp>
      <p:sp>
        <p:nvSpPr>
          <p:cNvPr id="17" name="icon-bg-251"/>
          <p:cNvSpPr/>
          <p:nvPr/>
        </p:nvSpPr>
        <p:spPr>
          <a:xfrm>
            <a:off x="7498080" y="3429000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8" name="icon-25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812" y="3570732"/>
            <a:ext cx="283464" cy="283464"/>
          </a:xfrm>
          <a:prstGeom prst="rect">
            <a:avLst/>
          </a:prstGeom>
        </p:spPr>
      </p:pic>
      <p:sp>
        <p:nvSpPr>
          <p:cNvPr id="19" name="text-253"/>
          <p:cNvSpPr txBox="1"/>
          <p:nvPr/>
        </p:nvSpPr>
        <p:spPr>
          <a:xfrm>
            <a:off x="8293608" y="341071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อนุมัติ · ลงนามอิเล็กทรอนิกส์</a:t>
            </a:r>
            <a:endParaRPr lang="en-US" sz="1700" dirty="0"/>
          </a:p>
        </p:txBody>
      </p:sp>
      <p:sp>
        <p:nvSpPr>
          <p:cNvPr id="20" name="text-254"/>
          <p:cNvSpPr txBox="1"/>
          <p:nvPr/>
        </p:nvSpPr>
        <p:spPr>
          <a:xfrm>
            <a:off x="8293608" y="375818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ตีกลับพร้อมเหตุผล หรืออนุมัติรายการปกติแบบกลุ่ม</a:t>
            </a:r>
            <a:endParaRPr lang="en-US" sz="1400" dirty="0"/>
          </a:p>
        </p:txBody>
      </p:sp>
      <p:sp>
        <p:nvSpPr>
          <p:cNvPr id="21" name="icon-bg-255"/>
          <p:cNvSpPr/>
          <p:nvPr/>
        </p:nvSpPr>
        <p:spPr>
          <a:xfrm>
            <a:off x="7498080" y="4846320"/>
            <a:ext cx="566928" cy="566928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2" name="icon-25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812" y="4988052"/>
            <a:ext cx="283464" cy="283464"/>
          </a:xfrm>
          <a:prstGeom prst="rect">
            <a:avLst/>
          </a:prstGeom>
        </p:spPr>
      </p:pic>
      <p:sp>
        <p:nvSpPr>
          <p:cNvPr id="23" name="text-257"/>
          <p:cNvSpPr txBox="1"/>
          <p:nvPr/>
        </p:nvSpPr>
        <p:spPr>
          <a:xfrm>
            <a:off x="8293608" y="482803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บันทึกการเปลี่ยนแปลง</a:t>
            </a:r>
            <a:endParaRPr lang="en-US" sz="1700" dirty="0"/>
          </a:p>
        </p:txBody>
      </p:sp>
      <p:sp>
        <p:nvSpPr>
          <p:cNvPr id="24" name="text-258"/>
          <p:cNvSpPr txBox="1"/>
          <p:nvPr/>
        </p:nvSpPr>
        <p:spPr>
          <a:xfrm>
            <a:off x="8293608" y="517550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ทุกการแก้ไขรู้ว่าใครทำ เมื่อไร พร้อมหลักฐาน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11  ·  ความน่าเชื่อถือ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พร้อมใช้งานจริง ทดสอบทุกครั้งก่อนส่งมอบ</a:t>
            </a:r>
            <a:endParaRPr lang="en-US" sz="3200" dirty="0"/>
          </a:p>
        </p:txBody>
      </p:sp>
      <p:sp>
        <p:nvSpPr>
          <p:cNvPr id="4" name="card-259"/>
          <p:cNvSpPr/>
          <p:nvPr/>
        </p:nvSpPr>
        <p:spPr>
          <a:xfrm>
            <a:off x="548640" y="205740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-260"/>
          <p:cNvSpPr txBox="1"/>
          <p:nvPr/>
        </p:nvSpPr>
        <p:spPr>
          <a:xfrm>
            <a:off x="822960" y="23774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chemeClr val="accent2"/>
                </a:solidFill>
              </a:rPr>
              <a:t>649</a:t>
            </a:r>
            <a:endParaRPr lang="en-US" sz="5800" dirty="0"/>
          </a:p>
        </p:txBody>
      </p:sp>
      <p:sp>
        <p:nvSpPr>
          <p:cNvPr id="6" name="text-261"/>
          <p:cNvSpPr txBox="1"/>
          <p:nvPr/>
        </p:nvSpPr>
        <p:spPr>
          <a:xfrm>
            <a:off x="822960" y="36576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ชุดทดสอบอัตโนมัติ</a:t>
            </a:r>
            <a:endParaRPr lang="en-US" sz="1700" dirty="0"/>
          </a:p>
        </p:txBody>
      </p:sp>
      <p:sp>
        <p:nvSpPr>
          <p:cNvPr id="7" name="text-262"/>
          <p:cNvSpPr txBox="1"/>
          <p:nvPr/>
        </p:nvSpPr>
        <p:spPr>
          <a:xfrm>
            <a:off x="822960" y="43434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ผ่านครบทุกเวอร์ชันก่อนส่งมอบ</a:t>
            </a:r>
            <a:endParaRPr lang="en-US" sz="1400" dirty="0"/>
          </a:p>
        </p:txBody>
      </p:sp>
      <p:sp>
        <p:nvSpPr>
          <p:cNvPr id="8" name="hud-263"/>
          <p:cNvSpPr/>
          <p:nvPr/>
        </p:nvSpPr>
        <p:spPr>
          <a:xfrm>
            <a:off x="475488" y="1984248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9" name="hud-264"/>
          <p:cNvSpPr/>
          <p:nvPr/>
        </p:nvSpPr>
        <p:spPr>
          <a:xfrm>
            <a:off x="475488" y="1984248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0" name="hud-265"/>
          <p:cNvSpPr/>
          <p:nvPr/>
        </p:nvSpPr>
        <p:spPr>
          <a:xfrm>
            <a:off x="3044952" y="1984248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1" name="hud-266"/>
          <p:cNvSpPr/>
          <p:nvPr/>
        </p:nvSpPr>
        <p:spPr>
          <a:xfrm>
            <a:off x="3227832" y="1984248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2" name="hud-267"/>
          <p:cNvSpPr/>
          <p:nvPr/>
        </p:nvSpPr>
        <p:spPr>
          <a:xfrm>
            <a:off x="475488" y="5193792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3" name="hud-268"/>
          <p:cNvSpPr/>
          <p:nvPr/>
        </p:nvSpPr>
        <p:spPr>
          <a:xfrm>
            <a:off x="475488" y="5010912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4" name="hud-269"/>
          <p:cNvSpPr/>
          <p:nvPr/>
        </p:nvSpPr>
        <p:spPr>
          <a:xfrm>
            <a:off x="3044952" y="5193792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5" name="hud-270"/>
          <p:cNvSpPr/>
          <p:nvPr/>
        </p:nvSpPr>
        <p:spPr>
          <a:xfrm>
            <a:off x="3227832" y="5010912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6" name="card-271"/>
          <p:cNvSpPr/>
          <p:nvPr/>
        </p:nvSpPr>
        <p:spPr>
          <a:xfrm>
            <a:off x="3429000" y="205740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-272"/>
          <p:cNvSpPr txBox="1"/>
          <p:nvPr/>
        </p:nvSpPr>
        <p:spPr>
          <a:xfrm>
            <a:off x="3703320" y="23774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chemeClr val="accent1"/>
                </a:solidFill>
              </a:rPr>
              <a:t>118</a:t>
            </a:r>
            <a:endParaRPr lang="en-US" sz="5800" dirty="0"/>
          </a:p>
        </p:txBody>
      </p:sp>
      <p:sp>
        <p:nvSpPr>
          <p:cNvPr id="18" name="text-273"/>
          <p:cNvSpPr txBox="1"/>
          <p:nvPr/>
        </p:nvSpPr>
        <p:spPr>
          <a:xfrm>
            <a:off x="3703320" y="36576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หน้าจอ</a:t>
            </a:r>
            <a:endParaRPr lang="en-US" sz="1700" dirty="0"/>
          </a:p>
        </p:txBody>
      </p:sp>
      <p:sp>
        <p:nvSpPr>
          <p:cNvPr id="19" name="text-274"/>
          <p:cNvSpPr txBox="1"/>
          <p:nvPr/>
        </p:nvSpPr>
        <p:spPr>
          <a:xfrm>
            <a:off x="3703320" y="43434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ตรวจด้วยเบราว์เซอร์จริง ทั้งจอคอมและมือถือ</a:t>
            </a:r>
            <a:endParaRPr lang="en-US" sz="1400" dirty="0"/>
          </a:p>
        </p:txBody>
      </p:sp>
      <p:sp>
        <p:nvSpPr>
          <p:cNvPr id="20" name="hud-275"/>
          <p:cNvSpPr/>
          <p:nvPr/>
        </p:nvSpPr>
        <p:spPr>
          <a:xfrm>
            <a:off x="3355848" y="1984248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1" name="hud-276"/>
          <p:cNvSpPr/>
          <p:nvPr/>
        </p:nvSpPr>
        <p:spPr>
          <a:xfrm>
            <a:off x="3355848" y="1984248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2" name="hud-277"/>
          <p:cNvSpPr/>
          <p:nvPr/>
        </p:nvSpPr>
        <p:spPr>
          <a:xfrm>
            <a:off x="5925312" y="1984248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3" name="hud-278"/>
          <p:cNvSpPr/>
          <p:nvPr/>
        </p:nvSpPr>
        <p:spPr>
          <a:xfrm>
            <a:off x="6108192" y="1984248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4" name="hud-279"/>
          <p:cNvSpPr/>
          <p:nvPr/>
        </p:nvSpPr>
        <p:spPr>
          <a:xfrm>
            <a:off x="3355848" y="5193792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5" name="hud-280"/>
          <p:cNvSpPr/>
          <p:nvPr/>
        </p:nvSpPr>
        <p:spPr>
          <a:xfrm>
            <a:off x="3355848" y="5010912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6" name="hud-281"/>
          <p:cNvSpPr/>
          <p:nvPr/>
        </p:nvSpPr>
        <p:spPr>
          <a:xfrm>
            <a:off x="5925312" y="5193792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7" name="hud-282"/>
          <p:cNvSpPr/>
          <p:nvPr/>
        </p:nvSpPr>
        <p:spPr>
          <a:xfrm>
            <a:off x="6108192" y="5010912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8" name="card-283"/>
          <p:cNvSpPr/>
          <p:nvPr/>
        </p:nvSpPr>
        <p:spPr>
          <a:xfrm>
            <a:off x="6309360" y="205740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-284"/>
          <p:cNvSpPr txBox="1"/>
          <p:nvPr/>
        </p:nvSpPr>
        <p:spPr>
          <a:xfrm>
            <a:off x="6583680" y="23774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chemeClr val="accent1"/>
                </a:solidFill>
              </a:rPr>
              <a:t>0</a:t>
            </a:r>
            <a:endParaRPr lang="en-US" sz="5800" dirty="0"/>
          </a:p>
        </p:txBody>
      </p:sp>
      <p:sp>
        <p:nvSpPr>
          <p:cNvPr id="30" name="text-285"/>
          <p:cNvSpPr txBox="1"/>
          <p:nvPr/>
        </p:nvSpPr>
        <p:spPr>
          <a:xfrm>
            <a:off x="6583680" y="36576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ไฟล์ของ UT-CMMS ที่ต้องแก้</a:t>
            </a:r>
            <a:endParaRPr lang="en-US" sz="1700" dirty="0"/>
          </a:p>
        </p:txBody>
      </p:sp>
      <p:sp>
        <p:nvSpPr>
          <p:cNvPr id="31" name="text-286"/>
          <p:cNvSpPr txBox="1"/>
          <p:nvPr/>
        </p:nvSpPr>
        <p:spPr>
          <a:xfrm>
            <a:off x="6583680" y="43434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รวมระบบแล้ว Login ครั้งเดียว</a:t>
            </a:r>
            <a:endParaRPr lang="en-US" sz="1400" dirty="0"/>
          </a:p>
        </p:txBody>
      </p:sp>
      <p:sp>
        <p:nvSpPr>
          <p:cNvPr id="32" name="hud-287"/>
          <p:cNvSpPr/>
          <p:nvPr/>
        </p:nvSpPr>
        <p:spPr>
          <a:xfrm>
            <a:off x="6236208" y="1984248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33" name="hud-288"/>
          <p:cNvSpPr/>
          <p:nvPr/>
        </p:nvSpPr>
        <p:spPr>
          <a:xfrm>
            <a:off x="6236208" y="1984248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34" name="hud-289"/>
          <p:cNvSpPr/>
          <p:nvPr/>
        </p:nvSpPr>
        <p:spPr>
          <a:xfrm>
            <a:off x="8805672" y="1984248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35" name="hud-290"/>
          <p:cNvSpPr/>
          <p:nvPr/>
        </p:nvSpPr>
        <p:spPr>
          <a:xfrm>
            <a:off x="8988552" y="1984248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36" name="hud-291"/>
          <p:cNvSpPr/>
          <p:nvPr/>
        </p:nvSpPr>
        <p:spPr>
          <a:xfrm>
            <a:off x="6236208" y="5193792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37" name="hud-292"/>
          <p:cNvSpPr/>
          <p:nvPr/>
        </p:nvSpPr>
        <p:spPr>
          <a:xfrm>
            <a:off x="6236208" y="5010912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38" name="hud-293"/>
          <p:cNvSpPr/>
          <p:nvPr/>
        </p:nvSpPr>
        <p:spPr>
          <a:xfrm>
            <a:off x="8805672" y="5193792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39" name="hud-294"/>
          <p:cNvSpPr/>
          <p:nvPr/>
        </p:nvSpPr>
        <p:spPr>
          <a:xfrm>
            <a:off x="8988552" y="5010912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40" name="card-295"/>
          <p:cNvSpPr/>
          <p:nvPr/>
        </p:nvSpPr>
        <p:spPr>
          <a:xfrm>
            <a:off x="9189720" y="205740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text-296"/>
          <p:cNvSpPr txBox="1"/>
          <p:nvPr/>
        </p:nvSpPr>
        <p:spPr>
          <a:xfrm>
            <a:off x="9464040" y="23774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1 นาที</a:t>
            </a:r>
            <a:endParaRPr lang="en-US" sz="4600" dirty="0"/>
          </a:p>
        </p:txBody>
      </p:sp>
      <p:sp>
        <p:nvSpPr>
          <p:cNvPr id="42" name="text-297"/>
          <p:cNvSpPr txBox="1"/>
          <p:nvPr/>
        </p:nvSpPr>
        <p:spPr>
          <a:xfrm>
            <a:off x="9464040" y="36576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ถอยกลับเวอร์ชันเดิม</a:t>
            </a:r>
            <a:endParaRPr lang="en-US" sz="1700" dirty="0"/>
          </a:p>
        </p:txBody>
      </p:sp>
      <p:sp>
        <p:nvSpPr>
          <p:cNvPr id="43" name="text-298"/>
          <p:cNvSpPr txBox="1"/>
          <p:nvPr/>
        </p:nvSpPr>
        <p:spPr>
          <a:xfrm>
            <a:off x="9464040" y="43434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Rollback ได้ทันทีหากจำเป็น</a:t>
            </a:r>
            <a:endParaRPr lang="en-US" sz="1400" dirty="0"/>
          </a:p>
        </p:txBody>
      </p:sp>
      <p:sp>
        <p:nvSpPr>
          <p:cNvPr id="44" name="hud-299"/>
          <p:cNvSpPr/>
          <p:nvPr/>
        </p:nvSpPr>
        <p:spPr>
          <a:xfrm>
            <a:off x="9116568" y="1984248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45" name="hud-300"/>
          <p:cNvSpPr/>
          <p:nvPr/>
        </p:nvSpPr>
        <p:spPr>
          <a:xfrm>
            <a:off x="9116568" y="1984248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46" name="hud-301"/>
          <p:cNvSpPr/>
          <p:nvPr/>
        </p:nvSpPr>
        <p:spPr>
          <a:xfrm>
            <a:off x="11686032" y="1984248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47" name="hud-302"/>
          <p:cNvSpPr/>
          <p:nvPr/>
        </p:nvSpPr>
        <p:spPr>
          <a:xfrm>
            <a:off x="11868912" y="1984248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48" name="hud-303"/>
          <p:cNvSpPr/>
          <p:nvPr/>
        </p:nvSpPr>
        <p:spPr>
          <a:xfrm>
            <a:off x="9116568" y="5193792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49" name="hud-304"/>
          <p:cNvSpPr/>
          <p:nvPr/>
        </p:nvSpPr>
        <p:spPr>
          <a:xfrm>
            <a:off x="9116568" y="5010912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50" name="hud-305"/>
          <p:cNvSpPr/>
          <p:nvPr/>
        </p:nvSpPr>
        <p:spPr>
          <a:xfrm>
            <a:off x="11686032" y="5193792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51" name="hud-306"/>
          <p:cNvSpPr/>
          <p:nvPr/>
        </p:nvSpPr>
        <p:spPr>
          <a:xfrm>
            <a:off x="11868912" y="5010912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52" name="text-307"/>
          <p:cNvSpPr txBox="1"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ติดตั้งได้ทั้ง Windows Server และ PC  ·  ใช้ผ่านเบราว์เซอร์ ไม่ต้องลงแอป  ·  10 ธีมสี รวมธีมห้องควบคุม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12  ·  สิ่งที่เปลี่ยนไป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ก่อนและหลังใช้ E-Checksheet</a:t>
            </a:r>
            <a:endParaRPr lang="en-US" sz="3200" dirty="0"/>
          </a:p>
        </p:txBody>
      </p:sp>
      <p:sp>
        <p:nvSpPr>
          <p:cNvPr id="4" name="card-308"/>
          <p:cNvSpPr/>
          <p:nvPr/>
        </p:nvSpPr>
        <p:spPr>
          <a:xfrm>
            <a:off x="2514600" y="1874520"/>
            <a:ext cx="3931920" cy="4251960"/>
          </a:xfrm>
          <a:prstGeom prst="roundRect">
            <a:avLst>
              <a:gd name="adj" fmla="val 2791"/>
            </a:avLst>
          </a:prstGeom>
          <a:solidFill>
            <a:schemeClr val="tx2">
              <a:alpha val="65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card-309"/>
          <p:cNvSpPr/>
          <p:nvPr/>
        </p:nvSpPr>
        <p:spPr>
          <a:xfrm>
            <a:off x="7269480" y="1874520"/>
            <a:ext cx="4343400" cy="4251960"/>
          </a:xfrm>
          <a:prstGeom prst="roundRect">
            <a:avLst>
              <a:gd name="adj" fmla="val 2581"/>
            </a:avLst>
          </a:prstGeom>
          <a:solidFill>
            <a:schemeClr val="tx2">
              <a:alpha val="95000"/>
            </a:schemeClr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-310"/>
          <p:cNvSpPr txBox="1"/>
          <p:nvPr/>
        </p:nvSpPr>
        <p:spPr>
          <a:xfrm>
            <a:off x="278892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เดิม · ใบตรวจกระดาษ</a:t>
            </a:r>
            <a:endParaRPr lang="en-US" sz="1500" dirty="0"/>
          </a:p>
        </p:txBody>
      </p:sp>
      <p:sp>
        <p:nvSpPr>
          <p:cNvPr id="7" name="text-311"/>
          <p:cNvSpPr txBox="1"/>
          <p:nvPr/>
        </p:nvSpPr>
        <p:spPr>
          <a:xfrm>
            <a:off x="754380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ใหม่ · E-Checksheet</a:t>
            </a:r>
            <a:endParaRPr lang="en-US" sz="1500" dirty="0"/>
          </a:p>
        </p:txBody>
      </p:sp>
      <p:sp>
        <p:nvSpPr>
          <p:cNvPr id="8" name="text-312"/>
          <p:cNvSpPr txBox="1"/>
          <p:nvPr/>
        </p:nvSpPr>
        <p:spPr>
          <a:xfrm>
            <a:off x="548640" y="2560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การบันทึก</a:t>
            </a:r>
            <a:endParaRPr lang="en-US" sz="1500" dirty="0"/>
          </a:p>
        </p:txBody>
      </p:sp>
      <p:sp>
        <p:nvSpPr>
          <p:cNvPr id="9" name="text-313"/>
          <p:cNvSpPr txBox="1"/>
          <p:nvPr/>
        </p:nvSpPr>
        <p:spPr>
          <a:xfrm>
            <a:off x="2788920" y="2560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จดบนกระดาษ แล้วคีย์ซ้ำ</a:t>
            </a:r>
            <a:endParaRPr lang="en-US" sz="1400" dirty="0"/>
          </a:p>
        </p:txBody>
      </p:sp>
      <p:pic>
        <p:nvPicPr>
          <p:cNvPr id="10" name="arrow-31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2697480"/>
            <a:ext cx="274320" cy="274320"/>
          </a:xfrm>
          <a:prstGeom prst="rect">
            <a:avLst/>
          </a:prstGeom>
        </p:spPr>
      </p:pic>
      <p:sp>
        <p:nvSpPr>
          <p:cNvPr id="11" name="text-315"/>
          <p:cNvSpPr txBox="1"/>
          <p:nvPr/>
        </p:nvSpPr>
        <p:spPr>
          <a:xfrm>
            <a:off x="7543800" y="2560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กรอกครั้งเดียวบนมือถือ หรือดึงจาก SCADA</a:t>
            </a:r>
            <a:endParaRPr lang="en-US" sz="1500" dirty="0"/>
          </a:p>
        </p:txBody>
      </p:sp>
      <p:sp>
        <p:nvSpPr>
          <p:cNvPr id="12" name="text-316"/>
          <p:cNvSpPr txBox="1"/>
          <p:nvPr/>
        </p:nvSpPr>
        <p:spPr>
          <a:xfrm>
            <a:off x="548640" y="3264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การติดตามรอบ</a:t>
            </a:r>
            <a:endParaRPr lang="en-US" sz="1500" dirty="0"/>
          </a:p>
        </p:txBody>
      </p:sp>
      <p:sp>
        <p:nvSpPr>
          <p:cNvPr id="13" name="text-317"/>
          <p:cNvSpPr txBox="1"/>
          <p:nvPr/>
        </p:nvSpPr>
        <p:spPr>
          <a:xfrm>
            <a:off x="2788920" y="32644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รู้ตอนรวบรวมเอกสาร</a:t>
            </a:r>
            <a:endParaRPr lang="en-US" sz="1400" dirty="0"/>
          </a:p>
        </p:txBody>
      </p:sp>
      <p:pic>
        <p:nvPicPr>
          <p:cNvPr id="14" name="arrow-31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3401568"/>
            <a:ext cx="274320" cy="274320"/>
          </a:xfrm>
          <a:prstGeom prst="rect">
            <a:avLst/>
          </a:prstGeom>
        </p:spPr>
      </p:pic>
      <p:sp>
        <p:nvSpPr>
          <p:cNvPr id="15" name="text-319"/>
          <p:cNvSpPr txBox="1"/>
          <p:nvPr/>
        </p:nvSpPr>
        <p:spPr>
          <a:xfrm>
            <a:off x="7543800" y="32644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เห็นสถานะทุกรอบแบบเรียลไทม์</a:t>
            </a:r>
            <a:endParaRPr lang="en-US" sz="1500" dirty="0"/>
          </a:p>
        </p:txBody>
      </p:sp>
      <p:sp>
        <p:nvSpPr>
          <p:cNvPr id="16" name="text-320"/>
          <p:cNvSpPr txBox="1"/>
          <p:nvPr/>
        </p:nvSpPr>
        <p:spPr>
          <a:xfrm>
            <a:off x="548640" y="39684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ค่าผิดปกติ</a:t>
            </a:r>
            <a:endParaRPr lang="en-US" sz="1500" dirty="0"/>
          </a:p>
        </p:txBody>
      </p:sp>
      <p:sp>
        <p:nvSpPr>
          <p:cNvPr id="17" name="text-321"/>
          <p:cNvSpPr txBox="1"/>
          <p:nvPr/>
        </p:nvSpPr>
        <p:spPr>
          <a:xfrm>
            <a:off x="2788920" y="396849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รอหัวหน้าเปิดแฟ้ม</a:t>
            </a:r>
            <a:endParaRPr lang="en-US" sz="1400" dirty="0"/>
          </a:p>
        </p:txBody>
      </p:sp>
      <p:pic>
        <p:nvPicPr>
          <p:cNvPr id="18" name="arrow-3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4105656"/>
            <a:ext cx="274320" cy="274320"/>
          </a:xfrm>
          <a:prstGeom prst="rect">
            <a:avLst/>
          </a:prstGeom>
        </p:spPr>
      </p:pic>
      <p:sp>
        <p:nvSpPr>
          <p:cNvPr id="19" name="text-323"/>
          <p:cNvSpPr txBox="1"/>
          <p:nvPr/>
        </p:nvSpPr>
        <p:spPr>
          <a:xfrm>
            <a:off x="7543800" y="39684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แจ้งเตือนทันที ส่งต่อ L1–L3</a:t>
            </a:r>
            <a:endParaRPr lang="en-US" sz="1500" dirty="0"/>
          </a:p>
        </p:txBody>
      </p:sp>
      <p:sp>
        <p:nvSpPr>
          <p:cNvPr id="20" name="text-324"/>
          <p:cNvSpPr txBox="1"/>
          <p:nvPr/>
        </p:nvSpPr>
        <p:spPr>
          <a:xfrm>
            <a:off x="548640" y="46725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การแจ้งซ่อม</a:t>
            </a:r>
            <a:endParaRPr lang="en-US" sz="1500" dirty="0"/>
          </a:p>
        </p:txBody>
      </p:sp>
      <p:sp>
        <p:nvSpPr>
          <p:cNvPr id="21" name="text-325"/>
          <p:cNvSpPr txBox="1"/>
          <p:nvPr/>
        </p:nvSpPr>
        <p:spPr>
          <a:xfrm>
            <a:off x="2788920" y="467258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เขียนใบแจ้งซ่อมแยก</a:t>
            </a:r>
            <a:endParaRPr lang="en-US" sz="1400" dirty="0"/>
          </a:p>
        </p:txBody>
      </p:sp>
      <p:pic>
        <p:nvPicPr>
          <p:cNvPr id="22" name="arrow-32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4809744"/>
            <a:ext cx="274320" cy="274320"/>
          </a:xfrm>
          <a:prstGeom prst="rect">
            <a:avLst/>
          </a:prstGeom>
        </p:spPr>
      </p:pic>
      <p:sp>
        <p:nvSpPr>
          <p:cNvPr id="23" name="text-327"/>
          <p:cNvSpPr txBox="1"/>
          <p:nvPr/>
        </p:nvSpPr>
        <p:spPr>
          <a:xfrm>
            <a:off x="7543800" y="46725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NG เปิดใบแจ้งซ่อม UT-CMMS ให้เอง</a:t>
            </a:r>
            <a:endParaRPr lang="en-US" sz="1500" dirty="0"/>
          </a:p>
        </p:txBody>
      </p:sp>
      <p:sp>
        <p:nvSpPr>
          <p:cNvPr id="24" name="text-328"/>
          <p:cNvSpPr txBox="1"/>
          <p:nvPr/>
        </p:nvSpPr>
        <p:spPr>
          <a:xfrm>
            <a:off x="548640" y="53766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รายงาน</a:t>
            </a:r>
            <a:endParaRPr lang="en-US" sz="1500" dirty="0"/>
          </a:p>
        </p:txBody>
      </p:sp>
      <p:sp>
        <p:nvSpPr>
          <p:cNvPr id="25" name="text-329"/>
          <p:cNvSpPr txBox="1"/>
          <p:nvPr/>
        </p:nvSpPr>
        <p:spPr>
          <a:xfrm>
            <a:off x="2788920" y="53766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รวบรวมและพิมพ์ด้วยมือ</a:t>
            </a:r>
            <a:endParaRPr lang="en-US" sz="1400" dirty="0"/>
          </a:p>
        </p:txBody>
      </p:sp>
      <p:pic>
        <p:nvPicPr>
          <p:cNvPr id="26" name="arrow-33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5513832"/>
            <a:ext cx="274320" cy="274320"/>
          </a:xfrm>
          <a:prstGeom prst="rect">
            <a:avLst/>
          </a:prstGeom>
        </p:spPr>
      </p:pic>
      <p:sp>
        <p:nvSpPr>
          <p:cNvPr id="27" name="text-331"/>
          <p:cNvSpPr txBox="1"/>
          <p:nvPr/>
        </p:nvSpPr>
        <p:spPr>
          <a:xfrm>
            <a:off x="7543800" y="53766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PDF / Excel พร้อมลายเซ็น ในคลิกเดียว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32"/>
          <p:cNvSpPr txBox="1"/>
          <p:nvPr/>
        </p:nvSpPr>
        <p:spPr>
          <a:xfrm>
            <a:off x="1097280" y="160020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chemeClr val="accent1"/>
                </a:solidFill>
              </a:rPr>
              <a:t>E-CHECKSHEET  ·  UTILITY 4.0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097280" y="2148840"/>
            <a:ext cx="9994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จากใบตรวจกระดาษ</a:t>
            </a:r>
            <a:endParaRPr lang="en-US" sz="4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สู่ห้องควบคุมดิจิทัล</a:t>
            </a:r>
            <a:endParaRPr lang="en-US" sz="4400" dirty="0"/>
          </a:p>
        </p:txBody>
      </p:sp>
      <p:sp>
        <p:nvSpPr>
          <p:cNvPr id="4" name="text-333"/>
          <p:cNvSpPr txBox="1"/>
          <p:nvPr/>
        </p:nvSpPr>
        <p:spPr>
          <a:xfrm>
            <a:off x="1097280" y="406908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ตรวจครบ  ·  รู้ทัน  ·  ซ่อมไว  — ด้วยข้อมูลที่เชื่อถือได้</a:t>
            </a:r>
            <a:endParaRPr lang="en-US" sz="2000" dirty="0"/>
          </a:p>
        </p:txBody>
      </p:sp>
      <p:sp>
        <p:nvSpPr>
          <p:cNvPr id="5" name="text-334"/>
          <p:cNvSpPr txBox="1"/>
          <p:nvPr/>
        </p:nvSpPr>
        <p:spPr>
          <a:xfrm>
            <a:off x="1097280" y="512064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ขอบคุณ</a:t>
            </a:r>
            <a:endParaRPr lang="en-US" sz="2400" dirty="0"/>
          </a:p>
        </p:txBody>
      </p:sp>
      <p:sp>
        <p:nvSpPr>
          <p:cNvPr id="6" name="hud-335"/>
          <p:cNvSpPr/>
          <p:nvPr/>
        </p:nvSpPr>
        <p:spPr>
          <a:xfrm>
            <a:off x="1463040" y="141732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7" name="hud-336"/>
          <p:cNvSpPr/>
          <p:nvPr/>
        </p:nvSpPr>
        <p:spPr>
          <a:xfrm>
            <a:off x="1463040" y="1417320"/>
            <a:ext cx="0" cy="365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8" name="hud-337"/>
          <p:cNvSpPr/>
          <p:nvPr/>
        </p:nvSpPr>
        <p:spPr>
          <a:xfrm>
            <a:off x="10360152" y="141732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9" name="hud-338"/>
          <p:cNvSpPr/>
          <p:nvPr/>
        </p:nvSpPr>
        <p:spPr>
          <a:xfrm>
            <a:off x="10725912" y="1417320"/>
            <a:ext cx="0" cy="365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0" name="hud-339"/>
          <p:cNvSpPr/>
          <p:nvPr/>
        </p:nvSpPr>
        <p:spPr>
          <a:xfrm>
            <a:off x="1463040" y="585216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1" name="hud-340"/>
          <p:cNvSpPr/>
          <p:nvPr/>
        </p:nvSpPr>
        <p:spPr>
          <a:xfrm>
            <a:off x="1463040" y="5486400"/>
            <a:ext cx="0" cy="365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2" name="hud-341"/>
          <p:cNvSpPr/>
          <p:nvPr/>
        </p:nvSpPr>
        <p:spPr>
          <a:xfrm>
            <a:off x="10360152" y="585216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3" name="hud-342"/>
          <p:cNvSpPr/>
          <p:nvPr/>
        </p:nvSpPr>
        <p:spPr>
          <a:xfrm>
            <a:off x="10725912" y="5486400"/>
            <a:ext cx="0" cy="365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E-Checksheet Control Room">
  <a:themeElements>
    <a:clrScheme name="E-Checksheet Control Room">
      <a:dk1>
        <a:srgbClr val="0A1230"/>
      </a:dk1>
      <a:lt1>
        <a:srgbClr val="FFFFFF"/>
      </a:lt1>
      <a:dk2>
        <a:srgbClr val="13204A"/>
      </a:dk2>
      <a:lt2>
        <a:srgbClr val="B8C4E0"/>
      </a:lt2>
      <a:accent1>
        <a:srgbClr val="38BDF8"/>
      </a:accent1>
      <a:accent2>
        <a:srgbClr val="F5A524"/>
      </a:accent2>
      <a:accent3>
        <a:srgbClr val="22C55E"/>
      </a:accent3>
      <a:accent4>
        <a:srgbClr val="F43F5E"/>
      </a:accent4>
      <a:accent5>
        <a:srgbClr val="8FA0C8"/>
      </a:accent5>
      <a:accent6>
        <a:srgbClr val="2A3F7A"/>
      </a:accent6>
      <a:hlink>
        <a:srgbClr val="38BDF8"/>
      </a:hlink>
      <a:folHlink>
        <a:srgbClr val="8FA0C8"/>
      </a:folHlink>
    </a:clrScheme>
    <a:fontScheme name="E-Checksheet Control Room">
      <a:majorFont>
        <a:latin typeface="Leelawadee UI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Leelawadee UI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Leelawadee U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E-Checksheet — ระบบตรวจเช็คเครื่องจักรออนไลน์</dc:title>
  <dc:subject>นำเสนอผลงานนวัตกรรม Utility 4.0</dc:subject>
  <dc:creator>E-Checksheet Team</dc:creator>
  <cp:lastModifiedBy>E-Checksheet Team</cp:lastModifiedBy>
  <cp:revision>1</cp:revision>
  <dcterms:created xsi:type="dcterms:W3CDTF">2026-10-25T11:56:04Z</dcterms:created>
  <dcterms:modified xsi:type="dcterms:W3CDTF">2026-10-25T11:56:04Z</dcterms:modified>
</cp:coreProperties>
</file>